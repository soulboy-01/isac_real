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4" r:id="rId10"/>
    <p:sldId id="265" r:id="rId11"/>
    <p:sldId id="266" r:id="rId12"/>
    <p:sldId id="267" r:id="rId13"/>
    <p:sldId id="274" r:id="rId14"/>
    <p:sldId id="275" r:id="rId15"/>
    <p:sldId id="276" r:id="rId16"/>
    <p:sldId id="277" r:id="rId17"/>
    <p:sldId id="278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29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64"/>
        <p:guide pos="294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1F5FA8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DCE7F4"/>
              </a:solidFill>
              <a:ln w="12700">
                <a:solidFill>
                  <a:srgbClr val="FFFFFF"/>
                </a:solidFill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decode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d29733f7-7593-4a76-971b-d8d4beb685e8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开场：各位老师好，我是通信工程专业叶嘉锐，导师徐</a:t>
            </a:r>
            <a:r>
              <a:rPr lang="zh-CN"/>
              <a:t>志</a:t>
            </a:r>
            <a:r>
              <a:t>京、实践导师丁鹏仁。我的开题题目是《</a:t>
            </a:r>
            <a:r>
              <a:rPr lang="zh-CN" altLang="en-US"/>
              <a:t>面向实时视频业务的 </a:t>
            </a:r>
            <a:r>
              <a:rPr lang="en-US" altLang="zh-CN"/>
              <a:t>OFDM-ISAC </a:t>
            </a:r>
            <a:r>
              <a:rPr lang="zh-CN" altLang="en-US"/>
              <a:t>跨层传输与感知共存研究</a:t>
            </a:r>
            <a:r>
              <a:t>》，下面按背景与动机、研究现状、研究内容与关键问题、方法与技术路线、现有基础与计划五部分汇报。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汇报分五部分：研究背景及意义、国内外研究现状、研究内容与关键问题、研究方法与技术路线、现有基础、进度与预期成果。逻辑是背景与动机 → 研究现状 → 研究方案 → 技术路线 → 计划与展望。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6G 时代 ITU-R M.2160 已将 ISAC 列为六大场景之一，通信与感知共享硬件、频谱与 OFDM 波形。但实时视频业务要求高吞吐、低时延且无长期累积，H.264 帧间预测对残留误码极其敏感，物理层误差会与容器、解码、缓冲紧密耦合。另一方面，非接触生命体征感知需要 0.1–0.5 Hz 呼吸与 0.8–2.0 Hz 心跳信息，同一波形同时承载通信与感知具有低成本优势。因此本题的核心是：在同一 OFDM 波形上联合研究实时视频传输与人体微动感知。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研究目的三条：一是建立强编码 OFDM-ISAC 链路上的实时视频跨层优化方案；二是构建依据信道状态自适应调整的可靠传输机制；三是探索基于通信波形相干相位的非接触微动感知方法。意义分两层：理论上补足连续媒体业务在真实 ISAC 链路上的端到端研究并给出可复用的跨层分析框架；工程上全部基于开源 OpenISAC 平台实现，可指导低成本 ISAC 原型系统部署，面向智慧港口、应急搜救与健康监测等场景。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四类相关工作：ISAC 平台与空口实验以感知精度和链路吞吐为主；无线视频传输的跨层设计研究很丰富，但通常假设物理层固定，缺少与可配置 ISAC 物理层的联合设计；级联信道编码方面 R S 外码强度多依赖最坏情况建模，其真实作用边界在 ISAC 场景下仍待实测；人体感知研究活跃，但基于开源 OFDM-ISAC 平台、与实时视频并发运行的微动感知研究较少。所以结论是缺少一个“真实平台 + 视频业务 + 微动感知”的一体化实验研究。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总体目标是建立强编码 OFDM-ISAC 链路上“实时视频业务 + 人体微动感知”的跨层设计与实验方法体系。三项研究内容：内容 1 实时视频传输的跨层优化（部分完成）；内容 2 信道自适应的可靠传输机制（拟研究）；内容 3 基于通信波形的非接触微动感知（拟研究）。需说明：原 RS 外码部分结论因实现缺陷已撤回，相关边界问题转入内容 2 的激活点实验中重测。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系统从摄像头采集 RGB 视频，经 H.264 编码进入 USRP N320 发射端：先做视频比特流封装与信道编码（RS(255,K) + LDPC(1008,504)），再做 OFDM 调制（1024 点 FFT，QPSK/16QAM），通过带循环前缀的无线 OFDM 链路传到 B210 接收端，经同步、解调、导频信道估计后进入 H.264 解码与显示。同一链路还分出感知分支，支持单基地与双基地两种感知模式。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级联编码流程：UDP 载荷加 2 字节长度前缀，前缀与载荷处在同一个 RS(255,K) 码字内，再经交织、LDPC(1008,504)，最后做 OFDM 帧映射。接收端依次解调、LDPC 软译码、RS 译码、载荷还原与 H.264 解码。风险在于：没有外码时长度前缀裸露，一个比特错误就会导致长度解析失败、字节流错位、NAL 解析失败，出现大面积花屏。右侧是当前进展，其中原 RS Pareto 结论已因实现缺陷撤回。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第一项结果：容器误码放大因子 γ。MPEG-TS + VLC 可达约 500 倍，MPEG-TS + ffplay 约 150 倍，而裸流 + ffplay 约 8 倍、裸流 + GStreamer 约 4 倍，说明容器封装会显著放大误码。第二个发现：2 字节长度前缀在 RS 码字内，单比特错误就会导致长度解析错误和字节流失步，所以分帧信息的完整性必须重点保障。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端到端时延测试 5 分钟，时延稳定在 233-266 ms，平均约 250 ms，无明显累计上升趋势；其中解码端占比约 80%。第二块是队列优化：队列深度从 32 降到 4-8，写入方式由阻塞式 push 改为 try_push，避免排队积压。第三块是关键参数：1200 kbps 与 GOP 30 综合最优；CP = 128 是室内最小可行保护间隔；16QAM 在 B210 上受主机 CPU 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试验手段分三块：硬件平台与试验场景（上位机、N320 发射、对数周期天线、室内视距约 5 m、3.1 GHz、B210 接收、数据采集）；波形与协议（1024 点 FFT、CP 128、50 MHz 带宽、H.264 640x480@20fps、GStreamer + RTP/UDP）；测量方法（BER 扫描、时延测量、可靠性、语义保持、相位频谱）。关键技术四项：运行时 RS 参数可重构、跨层参数联动、导频相位高精度复用、长时间相干累积与相位噪声抑制。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现有基础分三块：平台与链路方面，OpenISAC 平台部署完成，N320 + B210 空口链路搭建完成，实时视频与感知可以并行运行（1080p、30 fps）。初步结果包括不同 γ 值下的距离-时间图、端到端时延曲线（约 250 ms 稳定）以及调制方式、GOP、CP 的对比实验。论文方面已完成研究内容 1 的英文初稿，RS 外码章节待重测后补充。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年度计划分四个阶段：2025.09-2026.06 课程学习与平台熟悉；2026.07-2026.09 完成研究内容 1 并撰写英文初稿；2026.09-2026.12 启动研究内容 2 并接受中期检查；2027.01-2028.06 完成研究内容 2/3 与论文答辩。预期成果包括硕士学位论文、1-2 篇英文论文、可复现脚本与数据集、开源方法体系；量化目标分别覆盖时延与 BER、切换失同步率与图像完整性、呼吸与心跳估计精度。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三类风险与对策：一是微弱信号检测风险，心跳相位变化极小，采用 C→B→A 递进目标从粗到精降低风险；二是在线切换稳定性风险，在 OFDM 帧边界与 GOP 边界处限制切换并预置回退配置；三是双功能资源冲突与环境不确定性，通过量化兼容工作区域与可控重复实验来应对。总结：本研究基于真实开源平台，内容 1 已有阶段结果，内容 2、3 路线明确。请各位老师批评指正。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三类风险与对策：一是微弱信号检测风险，心跳相位变化极小，采用 C→B→A 递进目标从粗到精降低风险；二是在线切换稳定性风险，在 OFDM 帧边界与 GOP 边界处限制切换并预置回退配置；三是双功能资源冲突与环境不确定性，通过量化兼容工作区域与可控重复实验来应对。总结：本研究基于真实开源平台，内容 1 已有阶段结果，内容 2、3 路线明确。请各位老师批评指正。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9" Type="http://schemas.openxmlformats.org/officeDocument/2006/relationships/notesSlide" Target="../notesSlides/notesSlide2.x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2.png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3" Type="http://schemas.openxmlformats.org/officeDocument/2006/relationships/notesSlide" Target="../notesSlides/notesSlide4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.png"/><Relationship Id="rId20" Type="http://schemas.openxmlformats.org/officeDocument/2006/relationships/image" Target="../media/image32.png"/><Relationship Id="rId2" Type="http://schemas.openxmlformats.org/officeDocument/2006/relationships/image" Target="../media/image15.png"/><Relationship Id="rId19" Type="http://schemas.openxmlformats.org/officeDocument/2006/relationships/image" Target="../media/image31.png"/><Relationship Id="rId18" Type="http://schemas.openxmlformats.org/officeDocument/2006/relationships/image" Target="../media/image30.png"/><Relationship Id="rId17" Type="http://schemas.openxmlformats.org/officeDocument/2006/relationships/image" Target="../media/image29.png"/><Relationship Id="rId16" Type="http://schemas.openxmlformats.org/officeDocument/2006/relationships/image" Target="../media/image28.png"/><Relationship Id="rId15" Type="http://schemas.openxmlformats.org/officeDocument/2006/relationships/image" Target="../media/image27.png"/><Relationship Id="rId14" Type="http://schemas.openxmlformats.org/officeDocument/2006/relationships/image" Target="../media/image26.png"/><Relationship Id="rId13" Type="http://schemas.openxmlformats.org/officeDocument/2006/relationships/image" Target="../media/image25.png"/><Relationship Id="rId12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16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22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.png"/><Relationship Id="rId13" Type="http://schemas.openxmlformats.org/officeDocument/2006/relationships/image" Target="../media/image46.png"/><Relationship Id="rId12" Type="http://schemas.openxmlformats.org/officeDocument/2006/relationships/image" Target="../media/image45.png"/><Relationship Id="rId11" Type="http://schemas.openxmlformats.org/officeDocument/2006/relationships/image" Target="../media/image14.png"/><Relationship Id="rId10" Type="http://schemas.openxmlformats.org/officeDocument/2006/relationships/image" Target="../media/image44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png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2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png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2.png"/><Relationship Id="rId14" Type="http://schemas.openxmlformats.org/officeDocument/2006/relationships/image" Target="../media/image66.png"/><Relationship Id="rId13" Type="http://schemas.openxmlformats.org/officeDocument/2006/relationships/image" Target="../media/image65.png"/><Relationship Id="rId12" Type="http://schemas.openxmlformats.org/officeDocument/2006/relationships/image" Target="../media/image64.png"/><Relationship Id="rId11" Type="http://schemas.openxmlformats.org/officeDocument/2006/relationships/image" Target="../media/image63.png"/><Relationship Id="rId10" Type="http://schemas.openxmlformats.org/officeDocument/2006/relationships/image" Target="../media/image6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9.png"/><Relationship Id="rId4" Type="http://schemas.openxmlformats.org/officeDocument/2006/relationships/image" Target="../media/image66.png"/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6.png"/><Relationship Id="rId7" Type="http://schemas.openxmlformats.org/officeDocument/2006/relationships/image" Target="../media/image10.png"/><Relationship Id="rId6" Type="http://schemas.openxmlformats.org/officeDocument/2006/relationships/image" Target="../media/image45.png"/><Relationship Id="rId5" Type="http://schemas.openxmlformats.org/officeDocument/2006/relationships/image" Target="../media/image71.png"/><Relationship Id="rId4" Type="http://schemas.openxmlformats.org/officeDocument/2006/relationships/image" Target="../media/image47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4.png"/><Relationship Id="rId6" Type="http://schemas.openxmlformats.org/officeDocument/2006/relationships/image" Target="../media/image73.png"/><Relationship Id="rId5" Type="http://schemas.openxmlformats.org/officeDocument/2006/relationships/image" Target="../media/image2.png"/><Relationship Id="rId4" Type="http://schemas.openxmlformats.org/officeDocument/2006/relationships/image" Target="../media/image10.png"/><Relationship Id="rId3" Type="http://schemas.openxmlformats.org/officeDocument/2006/relationships/image" Target="../media/image72.png"/><Relationship Id="rId2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78.png"/><Relationship Id="rId7" Type="http://schemas.openxmlformats.org/officeDocument/2006/relationships/image" Target="../media/image54.png"/><Relationship Id="rId6" Type="http://schemas.openxmlformats.org/officeDocument/2006/relationships/image" Target="../media/image64.png"/><Relationship Id="rId5" Type="http://schemas.openxmlformats.org/officeDocument/2006/relationships/image" Target="../media/image77.png"/><Relationship Id="rId4" Type="http://schemas.openxmlformats.org/officeDocument/2006/relationships/image" Target="../media/image66.pn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.png"/><Relationship Id="rId12" Type="http://schemas.openxmlformats.org/officeDocument/2006/relationships/image" Target="../media/image38.png"/><Relationship Id="rId11" Type="http://schemas.openxmlformats.org/officeDocument/2006/relationships/image" Target="../media/image59.png"/><Relationship Id="rId10" Type="http://schemas.openxmlformats.org/officeDocument/2006/relationships/image" Target="../media/image79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png"/><Relationship Id="rId8" Type="http://schemas.openxmlformats.org/officeDocument/2006/relationships/image" Target="../media/image40.png"/><Relationship Id="rId7" Type="http://schemas.openxmlformats.org/officeDocument/2006/relationships/image" Target="../media/image43.png"/><Relationship Id="rId6" Type="http://schemas.openxmlformats.org/officeDocument/2006/relationships/image" Target="../media/image26.png"/><Relationship Id="rId5" Type="http://schemas.openxmlformats.org/officeDocument/2006/relationships/image" Target="../media/image22.png"/><Relationship Id="rId4" Type="http://schemas.openxmlformats.org/officeDocument/2006/relationships/image" Target="../media/image80.png"/><Relationship Id="rId3" Type="http://schemas.openxmlformats.org/officeDocument/2006/relationships/image" Target="../media/image39.png"/><Relationship Id="rId2" Type="http://schemas.openxmlformats.org/officeDocument/2006/relationships/image" Target="../media/image14.png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.png"/><Relationship Id="rId10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1481328" y="329184"/>
            <a:ext cx="0" cy="585216"/>
          </a:xfrm>
          <a:prstGeom prst="line">
            <a:avLst/>
          </a:prstGeom>
          <a:ln w="12700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72768" y="418719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2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1591056"/>
            <a:ext cx="11094415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000" b="0" i="0" spc="2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面向实时视频业务的 </a:t>
            </a:r>
            <a:r>
              <a:rPr lang="en-US" altLang="zh-CN" sz="4000" b="0" i="0" spc="2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OFDM-ISAC </a:t>
            </a:r>
            <a:r>
              <a:rPr lang="zh-CN" altLang="en-US" sz="4000" b="0" i="0" spc="2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跨层传输与感知共存研究</a:t>
            </a:r>
            <a:endParaRPr lang="zh-CN" altLang="en-US" sz="4000" b="0" i="0" spc="20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331720" y="3319272"/>
            <a:ext cx="7528255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11799" y="3241548"/>
            <a:ext cx="768096" cy="6858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20240" y="4389120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1" name="Picture 20" descr="person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637" y="4457517"/>
            <a:ext cx="174101" cy="17410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322576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答辩人：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叶嘉锐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864608" y="4389120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4" name="Picture 23" descr="school_1F5F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005" y="4457517"/>
            <a:ext cx="174101" cy="1741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66944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学号：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202530310195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808975" y="4389120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7" name="Picture 26" descr="description_1F5F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7373" y="4457517"/>
            <a:ext cx="174101" cy="17410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11311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专业：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通信工程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920240" y="4828032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0" name="Picture 29" descr="group_1F5F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637" y="4896429"/>
            <a:ext cx="174101" cy="17410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322576" y="48463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指导教师：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徐</a:t>
            </a:r>
            <a:r>
              <a:rPr lang="zh-CN"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志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京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4864608" y="4828032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3" name="Picture 32" descr="person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005" y="4896429"/>
            <a:ext cx="174101" cy="17410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66944" y="48463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实践导师：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丁鹏仁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7808975" y="4828032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event_1F5F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7373" y="4896429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11311" y="48463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</a:t>
            </a:r>
            <a:r>
              <a:rPr lang="en-US"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.10.28</a:t>
            </a:r>
            <a:endParaRPr lang="en-US"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4700016" y="4370832"/>
            <a:ext cx="0" cy="82296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44383" y="4370832"/>
            <a:ext cx="0" cy="82296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932688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0" i="0" spc="6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目 录</a:t>
            </a:r>
            <a:endParaRPr sz="4400" b="0" i="0" spc="60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4592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Contents</a:t>
            </a:r>
            <a:endParaRPr sz="17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947007" y="1673352"/>
            <a:ext cx="667512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77175" y="1673352"/>
            <a:ext cx="667512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>
            <p:custDataLst>
              <p:tags r:id="rId2"/>
            </p:custDataLst>
          </p:nvPr>
        </p:nvSpPr>
        <p:spPr>
          <a:xfrm>
            <a:off x="841248" y="2304288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>
            <p:custDataLst>
              <p:tags r:id="rId3"/>
            </p:custDataLst>
          </p:nvPr>
        </p:nvSpPr>
        <p:spPr>
          <a:xfrm>
            <a:off x="1042416" y="2478024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4"/>
            </p:custDataLst>
          </p:nvPr>
        </p:nvSpPr>
        <p:spPr>
          <a:xfrm>
            <a:off x="1042416" y="247802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01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24" name="Connector 23"/>
          <p:cNvCxnSpPr/>
          <p:nvPr>
            <p:custDataLst>
              <p:tags r:id="rId5"/>
            </p:custDataLst>
          </p:nvPr>
        </p:nvCxnSpPr>
        <p:spPr>
          <a:xfrm>
            <a:off x="1773936" y="2505456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>
            <p:custDataLst>
              <p:tags r:id="rId6"/>
            </p:custDataLst>
          </p:nvPr>
        </p:nvSpPr>
        <p:spPr>
          <a:xfrm>
            <a:off x="1920240" y="2615438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研究背景及意义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Rounded Rectangle 25"/>
          <p:cNvSpPr/>
          <p:nvPr>
            <p:custDataLst>
              <p:tags r:id="rId7"/>
            </p:custDataLst>
          </p:nvPr>
        </p:nvSpPr>
        <p:spPr>
          <a:xfrm>
            <a:off x="6400800" y="2304288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Oval 26"/>
          <p:cNvSpPr/>
          <p:nvPr>
            <p:custDataLst>
              <p:tags r:id="rId8"/>
            </p:custDataLst>
          </p:nvPr>
        </p:nvSpPr>
        <p:spPr>
          <a:xfrm>
            <a:off x="6601968" y="2478024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9"/>
            </p:custDataLst>
          </p:nvPr>
        </p:nvSpPr>
        <p:spPr>
          <a:xfrm>
            <a:off x="6601968" y="247802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02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29" name="Connector 28"/>
          <p:cNvCxnSpPr/>
          <p:nvPr>
            <p:custDataLst>
              <p:tags r:id="rId10"/>
            </p:custDataLst>
          </p:nvPr>
        </p:nvCxnSpPr>
        <p:spPr>
          <a:xfrm>
            <a:off x="7333488" y="2505456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>
            <p:custDataLst>
              <p:tags r:id="rId11"/>
            </p:custDataLst>
          </p:nvPr>
        </p:nvSpPr>
        <p:spPr>
          <a:xfrm>
            <a:off x="7479792" y="2615438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国内外研究现状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>
            <p:custDataLst>
              <p:tags r:id="rId12"/>
            </p:custDataLst>
          </p:nvPr>
        </p:nvSpPr>
        <p:spPr>
          <a:xfrm>
            <a:off x="841248" y="3529584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>
            <p:custDataLst>
              <p:tags r:id="rId13"/>
            </p:custDataLst>
          </p:nvPr>
        </p:nvSpPr>
        <p:spPr>
          <a:xfrm>
            <a:off x="1042416" y="3703320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>
            <p:custDataLst>
              <p:tags r:id="rId14"/>
            </p:custDataLst>
          </p:nvPr>
        </p:nvSpPr>
        <p:spPr>
          <a:xfrm>
            <a:off x="1042416" y="3703320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03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34" name="Connector 33"/>
          <p:cNvCxnSpPr/>
          <p:nvPr>
            <p:custDataLst>
              <p:tags r:id="rId15"/>
            </p:custDataLst>
          </p:nvPr>
        </p:nvCxnSpPr>
        <p:spPr>
          <a:xfrm>
            <a:off x="1773936" y="3730752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>
            <p:custDataLst>
              <p:tags r:id="rId16"/>
            </p:custDataLst>
          </p:nvPr>
        </p:nvSpPr>
        <p:spPr>
          <a:xfrm>
            <a:off x="1920240" y="3840733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研究内容与关键问题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>
            <p:custDataLst>
              <p:tags r:id="rId17"/>
            </p:custDataLst>
          </p:nvPr>
        </p:nvSpPr>
        <p:spPr>
          <a:xfrm>
            <a:off x="6400800" y="3529584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Oval 36"/>
          <p:cNvSpPr/>
          <p:nvPr>
            <p:custDataLst>
              <p:tags r:id="rId18"/>
            </p:custDataLst>
          </p:nvPr>
        </p:nvSpPr>
        <p:spPr>
          <a:xfrm>
            <a:off x="6601968" y="3703320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>
            <p:custDataLst>
              <p:tags r:id="rId19"/>
            </p:custDataLst>
          </p:nvPr>
        </p:nvSpPr>
        <p:spPr>
          <a:xfrm>
            <a:off x="6601968" y="3703320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04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39" name="Connector 38"/>
          <p:cNvCxnSpPr/>
          <p:nvPr>
            <p:custDataLst>
              <p:tags r:id="rId20"/>
            </p:custDataLst>
          </p:nvPr>
        </p:nvCxnSpPr>
        <p:spPr>
          <a:xfrm>
            <a:off x="7333488" y="3730752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>
            <p:custDataLst>
              <p:tags r:id="rId21"/>
            </p:custDataLst>
          </p:nvPr>
        </p:nvSpPr>
        <p:spPr>
          <a:xfrm>
            <a:off x="7479792" y="3840733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研究方法与技术路线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ounded Rectangle 40"/>
          <p:cNvSpPr/>
          <p:nvPr>
            <p:custDataLst>
              <p:tags r:id="rId22"/>
            </p:custDataLst>
          </p:nvPr>
        </p:nvSpPr>
        <p:spPr>
          <a:xfrm>
            <a:off x="3617823" y="4754880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Oval 41"/>
          <p:cNvSpPr/>
          <p:nvPr>
            <p:custDataLst>
              <p:tags r:id="rId23"/>
            </p:custDataLst>
          </p:nvPr>
        </p:nvSpPr>
        <p:spPr>
          <a:xfrm>
            <a:off x="3818991" y="4928616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>
            <p:custDataLst>
              <p:tags r:id="rId24"/>
            </p:custDataLst>
          </p:nvPr>
        </p:nvSpPr>
        <p:spPr>
          <a:xfrm>
            <a:off x="3818991" y="4928616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05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44" name="Connector 43"/>
          <p:cNvCxnSpPr/>
          <p:nvPr>
            <p:custDataLst>
              <p:tags r:id="rId25"/>
            </p:custDataLst>
          </p:nvPr>
        </p:nvCxnSpPr>
        <p:spPr>
          <a:xfrm>
            <a:off x="4550511" y="4956048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>
            <p:custDataLst>
              <p:tags r:id="rId26"/>
            </p:custDataLst>
          </p:nvPr>
        </p:nvSpPr>
        <p:spPr>
          <a:xfrm>
            <a:off x="4696815" y="5066030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现有基础、进度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9" name="Picture 11" descr="logo.png"/>
          <p:cNvPicPr>
            <a:picLocks noChangeAspect="1"/>
          </p:cNvPicPr>
          <p:nvPr/>
        </p:nvPicPr>
        <p:blipFill>
          <a:blip r:embed="rId27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研究背景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453737" y="1709928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09357" y="1709928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2048256"/>
            <a:ext cx="3648456" cy="331012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" y="2185416"/>
            <a:ext cx="457200" cy="4572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52144" y="2194560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6G 与通感一体化</a:t>
            </a:r>
            <a:endParaRPr sz="14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3538728" y="2395728"/>
            <a:ext cx="420624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85216" y="2688336"/>
            <a:ext cx="3392424" cy="9326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2816352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9DBDE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6G</a:t>
            </a:r>
            <a:endParaRPr sz="3200" b="1" i="0">
              <a:solidFill>
                <a:srgbClr val="9DBDE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7" name="Picture 26" descr="sensors_7FA5D4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2926080"/>
            <a:ext cx="292608" cy="292608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2157984" y="3072384"/>
            <a:ext cx="45720" cy="256032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95144" y="2962656"/>
            <a:ext cx="45720" cy="365760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32303" y="2907792"/>
            <a:ext cx="45720" cy="420624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9463" y="2962656"/>
            <a:ext cx="45720" cy="365760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06624" y="3072384"/>
            <a:ext cx="45720" cy="256032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2103120" y="3328416"/>
            <a:ext cx="786384" cy="0"/>
          </a:xfrm>
          <a:prstGeom prst="line">
            <a:avLst/>
          </a:prstGeom>
          <a:ln w="12700">
            <a:solidFill>
              <a:srgbClr val="A9C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03120" y="3346704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E8FB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</a:t>
            </a:r>
            <a:endParaRPr sz="750" b="0" i="0">
              <a:solidFill>
                <a:srgbClr val="6E8FB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21792" y="376732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globe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89" y="3835725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24128" y="384937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ITU-R M.2160 将 ISAC 列为 6G 六大场景之一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21792" y="418795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21792" y="427024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39" descr="globe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89" y="4338645"/>
            <a:ext cx="174101" cy="17410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24128" y="435229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通信与感知共享硬件、频谱与 OFDM 波形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621792" y="469087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21792" y="477316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4" name="Picture 43" descr="globe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89" y="4841565"/>
            <a:ext cx="174101" cy="17410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24128" y="485521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面向智慧交通、智慧港口、健康监测等应用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33672" y="2048256"/>
            <a:ext cx="3648456" cy="331012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379976" y="2185416"/>
            <a:ext cx="457200" cy="4572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928616" y="2194560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实时视频业务的挑战</a:t>
            </a:r>
            <a:endParaRPr sz="14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7315200" y="2395728"/>
            <a:ext cx="420624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361688" y="2688336"/>
            <a:ext cx="3392424" cy="9326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62855" y="2916936"/>
            <a:ext cx="932688" cy="475488"/>
          </a:xfrm>
          <a:prstGeom prst="roundRect">
            <a:avLst>
              <a:gd name="adj" fmla="val 14000"/>
            </a:avLst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17719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17719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41747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41747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65775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5775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289803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89803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0" name="Isosceles Triangle 59"/>
          <p:cNvSpPr/>
          <p:nvPr/>
        </p:nvSpPr>
        <p:spPr>
          <a:xfrm rot="5400000">
            <a:off x="4928616" y="3072384"/>
            <a:ext cx="219456" cy="18288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5568696" y="3154680"/>
            <a:ext cx="182879" cy="0"/>
          </a:xfrm>
          <a:prstGeom prst="line">
            <a:avLst/>
          </a:prstGeom>
          <a:ln w="12700">
            <a:solidFill>
              <a:srgbClr val="8FB0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5843016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117336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91655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665975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13448" y="307238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B0D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···</a:t>
            </a:r>
            <a:endParaRPr sz="1400" b="0" i="0">
              <a:solidFill>
                <a:srgbClr val="8FB0D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4398264" y="376732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8" name="Picture 67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661" y="3835725"/>
            <a:ext cx="174101" cy="174101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800600" y="384937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高吞吐、低时延、无长期累积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4398264" y="418795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4398264" y="427024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2" name="Picture 71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661" y="4338645"/>
            <a:ext cx="174101" cy="174101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800600" y="435229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帧间预测对残留误码敏感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4" name="Connector 73"/>
          <p:cNvCxnSpPr/>
          <p:nvPr/>
        </p:nvCxnSpPr>
        <p:spPr>
          <a:xfrm>
            <a:off x="4398264" y="469087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98264" y="477316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6" name="Picture 75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661" y="4841565"/>
            <a:ext cx="174101" cy="174101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800600" y="485521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物理层误差与容器/解码/缓冲紧密耦合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8010144" y="2048256"/>
            <a:ext cx="3648456" cy="331012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156448" y="2185416"/>
            <a:ext cx="457200" cy="4572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705088" y="2194560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微动感知的应用需求</a:t>
            </a:r>
            <a:endParaRPr sz="14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11091672" y="2395728"/>
            <a:ext cx="420624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8138160" y="2688336"/>
            <a:ext cx="3392424" cy="9326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3" name="Picture 82" descr="person_C3D7EC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2743200"/>
            <a:ext cx="786384" cy="786384"/>
          </a:xfrm>
          <a:prstGeom prst="rect">
            <a:avLst/>
          </a:prstGeom>
        </p:spPr>
      </p:pic>
      <p:sp>
        <p:nvSpPr>
          <p:cNvPr id="84" name="Freeform 83"/>
          <p:cNvSpPr/>
          <p:nvPr/>
        </p:nvSpPr>
        <p:spPr>
          <a:xfrm>
            <a:off x="8796528" y="3012811"/>
            <a:ext cx="1188720" cy="246967"/>
          </a:xfrm>
          <a:custGeom>
            <a:avLst/>
            <a:gdLst/>
            <a:ahLst/>
            <a:cxnLst/>
            <a:rect l="l" t="t" r="r" b="b"/>
            <a:pathLst>
              <a:path w="1188720" h="246967">
                <a:moveTo>
                  <a:pt x="0" y="141869"/>
                </a:moveTo>
                <a:lnTo>
                  <a:pt x="19812" y="155529"/>
                </a:lnTo>
                <a:lnTo>
                  <a:pt x="39624" y="169352"/>
                </a:lnTo>
                <a:lnTo>
                  <a:pt x="59436" y="182942"/>
                </a:lnTo>
                <a:lnTo>
                  <a:pt x="79248" y="195896"/>
                </a:lnTo>
                <a:lnTo>
                  <a:pt x="99060" y="207814"/>
                </a:lnTo>
                <a:lnTo>
                  <a:pt x="118872" y="218306"/>
                </a:lnTo>
                <a:lnTo>
                  <a:pt x="138684" y="227011"/>
                </a:lnTo>
                <a:lnTo>
                  <a:pt x="158496" y="233604"/>
                </a:lnTo>
                <a:lnTo>
                  <a:pt x="178308" y="237807"/>
                </a:lnTo>
                <a:lnTo>
                  <a:pt x="198120" y="239402"/>
                </a:lnTo>
                <a:lnTo>
                  <a:pt x="217932" y="238235"/>
                </a:lnTo>
                <a:lnTo>
                  <a:pt x="237744" y="234227"/>
                </a:lnTo>
                <a:lnTo>
                  <a:pt x="257556" y="227379"/>
                </a:lnTo>
                <a:lnTo>
                  <a:pt x="277368" y="217773"/>
                </a:lnTo>
                <a:lnTo>
                  <a:pt x="297180" y="205575"/>
                </a:lnTo>
                <a:lnTo>
                  <a:pt x="316992" y="191034"/>
                </a:lnTo>
                <a:lnTo>
                  <a:pt x="336804" y="174474"/>
                </a:lnTo>
                <a:lnTo>
                  <a:pt x="356616" y="156293"/>
                </a:lnTo>
                <a:lnTo>
                  <a:pt x="376428" y="136952"/>
                </a:lnTo>
                <a:lnTo>
                  <a:pt x="396240" y="116964"/>
                </a:lnTo>
                <a:lnTo>
                  <a:pt x="416052" y="96882"/>
                </a:lnTo>
                <a:lnTo>
                  <a:pt x="435864" y="77285"/>
                </a:lnTo>
                <a:lnTo>
                  <a:pt x="455676" y="58760"/>
                </a:lnTo>
                <a:lnTo>
                  <a:pt x="475488" y="41887"/>
                </a:lnTo>
                <a:lnTo>
                  <a:pt x="495300" y="27223"/>
                </a:lnTo>
                <a:lnTo>
                  <a:pt x="515112" y="15283"/>
                </a:lnTo>
                <a:lnTo>
                  <a:pt x="534924" y="6525"/>
                </a:lnTo>
                <a:lnTo>
                  <a:pt x="554736" y="1332"/>
                </a:lnTo>
                <a:lnTo>
                  <a:pt x="574548" y="0"/>
                </a:lnTo>
                <a:lnTo>
                  <a:pt x="594360" y="2725"/>
                </a:lnTo>
                <a:lnTo>
                  <a:pt x="614172" y="14781"/>
                </a:lnTo>
                <a:lnTo>
                  <a:pt x="633984" y="29902"/>
                </a:lnTo>
                <a:lnTo>
                  <a:pt x="653796" y="47549"/>
                </a:lnTo>
                <a:lnTo>
                  <a:pt x="673608" y="67130"/>
                </a:lnTo>
                <a:lnTo>
                  <a:pt x="693420" y="88024"/>
                </a:lnTo>
                <a:lnTo>
                  <a:pt x="713232" y="109598"/>
                </a:lnTo>
                <a:lnTo>
                  <a:pt x="733044" y="131225"/>
                </a:lnTo>
                <a:lnTo>
                  <a:pt x="752856" y="152301"/>
                </a:lnTo>
                <a:lnTo>
                  <a:pt x="772668" y="172259"/>
                </a:lnTo>
                <a:lnTo>
                  <a:pt x="792480" y="190589"/>
                </a:lnTo>
                <a:lnTo>
                  <a:pt x="812292" y="206843"/>
                </a:lnTo>
                <a:lnTo>
                  <a:pt x="832104" y="220651"/>
                </a:lnTo>
                <a:lnTo>
                  <a:pt x="851916" y="231723"/>
                </a:lnTo>
                <a:lnTo>
                  <a:pt x="871728" y="239860"/>
                </a:lnTo>
                <a:lnTo>
                  <a:pt x="891540" y="244948"/>
                </a:lnTo>
                <a:lnTo>
                  <a:pt x="911352" y="246967"/>
                </a:lnTo>
                <a:lnTo>
                  <a:pt x="931164" y="245981"/>
                </a:lnTo>
                <a:lnTo>
                  <a:pt x="950976" y="242133"/>
                </a:lnTo>
                <a:lnTo>
                  <a:pt x="970788" y="235645"/>
                </a:lnTo>
                <a:lnTo>
                  <a:pt x="990600" y="226800"/>
                </a:lnTo>
                <a:lnTo>
                  <a:pt x="1010412" y="215937"/>
                </a:lnTo>
                <a:lnTo>
                  <a:pt x="1030224" y="203437"/>
                </a:lnTo>
                <a:lnTo>
                  <a:pt x="1050036" y="189713"/>
                </a:lnTo>
                <a:lnTo>
                  <a:pt x="1069848" y="175195"/>
                </a:lnTo>
                <a:lnTo>
                  <a:pt x="1089660" y="160318"/>
                </a:lnTo>
                <a:lnTo>
                  <a:pt x="1109472" y="145511"/>
                </a:lnTo>
                <a:lnTo>
                  <a:pt x="1129284" y="131183"/>
                </a:lnTo>
                <a:lnTo>
                  <a:pt x="1149096" y="117714"/>
                </a:lnTo>
                <a:lnTo>
                  <a:pt x="1168908" y="105446"/>
                </a:lnTo>
                <a:lnTo>
                  <a:pt x="1188720" y="94673"/>
                </a:lnTo>
              </a:path>
            </a:pathLst>
          </a:custGeom>
          <a:noFill/>
          <a:ln w="19050">
            <a:solidFill>
              <a:srgbClr val="7FA5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pulmonology_0D3270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264" y="2816352"/>
            <a:ext cx="274320" cy="27432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0424160" y="2779776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呼吸</a:t>
            </a:r>
            <a:endParaRPr sz="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0.1 – 0.5 Hz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87" name="Picture 86" descr="ecg_heart_0D3270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4" y="3255264"/>
            <a:ext cx="274320" cy="27432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0424160" y="3218688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心跳</a:t>
            </a:r>
            <a:endParaRPr sz="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0.8 – 2.0 Hz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8174736" y="376732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90" name="Picture 89" descr="ecg_heart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133" y="3835725"/>
            <a:ext cx="174101" cy="174101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8577072" y="384937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呼吸 0.1 – 0.5 Hz，心跳 0.8 – 2.0 Hz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92" name="Connector 91"/>
          <p:cNvCxnSpPr/>
          <p:nvPr/>
        </p:nvCxnSpPr>
        <p:spPr>
          <a:xfrm>
            <a:off x="8174736" y="418795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8174736" y="427024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94" name="Picture 93" descr="ecg_heart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133" y="4338645"/>
            <a:ext cx="174101" cy="174101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577072" y="435229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非接触生命体征感知是研究热点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96" name="Connector 95"/>
          <p:cNvCxnSpPr/>
          <p:nvPr/>
        </p:nvCxnSpPr>
        <p:spPr>
          <a:xfrm>
            <a:off x="8174736" y="469087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8174736" y="477316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98" name="Picture 97" descr="ecg_heart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133" y="4841565"/>
            <a:ext cx="174101" cy="174101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577072" y="485521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同一波形承载通信与感知具有低成本优势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9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05840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4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研究目的与研究意义</a:t>
            </a:r>
            <a:endParaRPr sz="34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1792224"/>
            <a:ext cx="5358384" cy="267004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1792224"/>
            <a:ext cx="5358384" cy="45720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3" name="Picture 22" descr="target_FFFFFF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883664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9264" y="1792224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研究目的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7" name="Picture 26" descr="description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441448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883664" y="2395728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建立强编码 OFDM-ISAC 链路上的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实时视频跨层优化方案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40080" y="2999232"/>
            <a:ext cx="499262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40080" y="3127248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127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2" name="Picture 31" descr="insights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118104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83664" y="3072384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构建依据信道状态自适应调整的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可靠传输机制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675888"/>
            <a:ext cx="499262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40080" y="3803903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80390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7" name="Picture 36" descr="ecg_heart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794759"/>
            <a:ext cx="457200" cy="457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883664" y="3749039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探索基于通信波形相干相位的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非接触微动感知方法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44768" y="1792224"/>
            <a:ext cx="5577840" cy="267004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44768" y="1792224"/>
            <a:ext cx="5577840" cy="45720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1" name="Picture 40" descr="lightbulb_FFFFFF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883664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56831" y="1792224"/>
            <a:ext cx="497433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研究意义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72783" y="2359152"/>
            <a:ext cx="2688336" cy="1938528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9525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4" name="Picture 43" descr="school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2468880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729983" y="2459736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理论意义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6" name="Picture 45" descr="inventory_2_4A7CB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5" y="2798064"/>
            <a:ext cx="237744" cy="23774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748271" y="2761488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补足连续媒体业务在真实 ISAC 链路上的端到端研究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8" name="Picture 47" descr="description_4A7CB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375" y="3236976"/>
            <a:ext cx="237744" cy="2377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48271" y="3200400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提出面向视频业务的可复用跨层分析框架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906256" y="2359152"/>
            <a:ext cx="2688336" cy="1938528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9525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1" name="Picture 50" descr="settings_2E5F9E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0" y="2468880"/>
            <a:ext cx="256032" cy="2560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363456" y="2459736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工程 / 应用意义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3" name="Picture 52" descr="monitor_4A7CB8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0848" y="2798064"/>
            <a:ext cx="237744" cy="2377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381744" y="2761488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全部基于开源 OpenISAC 平台实现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5" name="Picture 54" descr="handyman_4A7CB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0848" y="3236976"/>
            <a:ext cx="237744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381744" y="3200400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可指导低成本 ISAC 原型系统部署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7" name="Picture 56" descr="group_4A7CB8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70848" y="3675887"/>
            <a:ext cx="237744" cy="23774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381744" y="3639312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面向智慧健康监测等场景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9" name="Picture 58" descr="hub_2E5F9E_35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626864"/>
            <a:ext cx="274320" cy="27432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86384" y="46360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应用场景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1783080" y="4773168"/>
            <a:ext cx="9933127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57200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3" name="Picture 62" descr="app_por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6434" y="4919472"/>
            <a:ext cx="2116653" cy="768096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603504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5" name="Picture 64" descr="directions_boat_1F5FA8_35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313" y="5069433"/>
            <a:ext cx="212140" cy="2121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85216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智慧港口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85216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Smart Port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315968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9" name="Picture 68" descr="app_rescu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75202" y="4919472"/>
            <a:ext cx="2116653" cy="768096"/>
          </a:xfrm>
          <a:prstGeom prst="rect">
            <a:avLst/>
          </a:prstGeom>
        </p:spPr>
      </p:pic>
      <p:sp>
        <p:nvSpPr>
          <p:cNvPr id="70" name="Oval 69"/>
          <p:cNvSpPr/>
          <p:nvPr/>
        </p:nvSpPr>
        <p:spPr>
          <a:xfrm>
            <a:off x="4462272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1" name="Picture 70" descr="person_search_1F5FA8_35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39081" y="5069433"/>
            <a:ext cx="212140" cy="2121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443983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应急搜救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443983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Emergency Rescue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174736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5" name="Picture 74" descr="app_hospital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33970" y="4919472"/>
            <a:ext cx="2116653" cy="768096"/>
          </a:xfrm>
          <a:prstGeom prst="rect">
            <a:avLst/>
          </a:prstGeom>
        </p:spPr>
      </p:pic>
      <p:sp>
        <p:nvSpPr>
          <p:cNvPr id="76" name="Oval 75"/>
          <p:cNvSpPr/>
          <p:nvPr/>
        </p:nvSpPr>
        <p:spPr>
          <a:xfrm>
            <a:off x="8321040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7" name="Picture 76" descr="monitor_heart_1F5FA8_35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97849" y="5069433"/>
            <a:ext cx="212140" cy="2121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302752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智慧健康监测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302752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Smart Health Monitoring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1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2412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国内外研究现状总览</a:t>
            </a:r>
            <a:endParaRPr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404207" y="1673352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8887" y="1673352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1883664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" y="2002536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" y="2020824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平台与空口实验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4" name="Picture 23" descr="cell_tower_4A7CB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487168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63040" y="245059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Sturm &amp; Wiesbeck 奠定 OFDM-ISAC 框架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63040" y="2706624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OpenISAC、Brunner 等推进空口实验平台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3504" y="2980944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4944" y="3063239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9" name="Picture 28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2" y="3132368"/>
            <a:ext cx="190926" cy="19092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3856" y="2980944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多聚焦感知精度与链路吞吐。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17920" y="1883664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64224" y="2002536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58000" y="2020824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无线视频传输与跨层设计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4" name="Picture 33" descr="movie_4A7CB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487168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23760" y="255600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包级 FEC、跨层优化、自适应流媒体、JSCC 等研究丰富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364224" y="2980944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55664" y="3063239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8" name="Picture 37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92" y="3132368"/>
            <a:ext cx="190926" cy="19092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94576" y="2980944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通常假设物理层固定，缺少与可配置 ISAC 物理层联合设计。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57200" y="3730752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3504" y="3849624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3867912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级联信道编码与残留误码处理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3" name="Picture 42" descr="layers_4A7CB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334256"/>
            <a:ext cx="457200" cy="4572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463040" y="4297680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RS+内码为经典级联结构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463040" y="455371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外码强度传统上依赖最坏情况建模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03504" y="4828032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4944" y="4910328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8" name="Picture 47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2" y="4979456"/>
            <a:ext cx="190926" cy="19092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33856" y="4828032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场景下外码真实作用边界待实测刻画。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217920" y="3730752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64224" y="3849624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858000" y="3867912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人体感知与生命体征监测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3" name="Picture 52" descr="ecg_heart_4A7CB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4334256"/>
            <a:ext cx="457200" cy="4572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23760" y="4403090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毫米波雷达、Wi-Fi CSI、人体活动感知研究活跃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364224" y="4828032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455664" y="4910328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7" name="Picture 56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92" y="4979456"/>
            <a:ext cx="190926" cy="19092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894576" y="4828032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基于开源 OFDM-ISAC 平台的实时视频并发微动感知研究较少。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7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研究目标与总体研究内容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75488" y="1773936"/>
            <a:ext cx="11240719" cy="859536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 w="12700">
            <a:solidFill>
              <a:srgbClr val="C2D6EC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1920240"/>
            <a:ext cx="566928" cy="566928"/>
          </a:xfrm>
          <a:prstGeom prst="ellipse">
            <a:avLst/>
          </a:prstGeom>
          <a:solidFill>
            <a:srgbClr val="DCE9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3" name="Picture 22" descr="target_1F5F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" y="2033625"/>
            <a:ext cx="340156" cy="3401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35024" y="1920240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总体目标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1389888" y="2048256"/>
            <a:ext cx="0" cy="329184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32304" y="2011680"/>
            <a:ext cx="0" cy="402336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596896" y="1773936"/>
            <a:ext cx="8778240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建立强编码 OFDM-ISAC 链路上“实时视频业务 + 人体微动感知”的跨层设计与实验方法体系</a:t>
            </a:r>
            <a:endParaRPr sz="15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5488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97280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实时视频传输的跨层优化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58368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2" name="Picture 31" descr="bar_chart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5" y="3561405"/>
            <a:ext cx="174101" cy="17410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8992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容器误码放大因子建模与实测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58368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58368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databas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65" y="4018605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8992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队列优化与时延消除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58368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58368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39" descr="settings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65" y="4475805"/>
            <a:ext cx="174101" cy="17410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8992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调制/码率/GOP/CP 参数边界分析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67335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3" name="Picture 42" descr="check_circle_2E7D5B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8215" y="4741164"/>
            <a:ext cx="228600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020824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部分完成</a:t>
            </a:r>
            <a:endParaRPr sz="1050" b="1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315967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43983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937759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信道自适应的可靠传输机制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4498847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9" name="Picture 48" descr="query_stats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245" y="3561405"/>
            <a:ext cx="174101" cy="17410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919471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外码激活点二维刻画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4498847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498847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3" name="Picture 52" descr="description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7245" y="4018605"/>
            <a:ext cx="174101" cy="17410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919471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SNR/残差统计量构造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4498847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498847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7" name="Picture 56" descr="sync_2E5F9E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7245" y="4475805"/>
            <a:ext cx="174101" cy="17410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919471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在线映射与 GOP 边界热切换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51383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0" name="Picture 59" descr="hourglass_1F5F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8695" y="4741164"/>
            <a:ext cx="228600" cy="2286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861303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拟研究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8156447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84463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778239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3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基于通信波形的非接触微动感知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8339327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6" name="Picture 65" descr="ecg_heart_2E5F9E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7725" y="3561405"/>
            <a:ext cx="174101" cy="17410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759951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导频相位提取与长窗谱分析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8339327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8339327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0" name="Picture 69" descr="equalizer_2E5F9E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7725" y="4018605"/>
            <a:ext cx="174101" cy="174101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759951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呼吸谐波剥离/倒谱分析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2" name="Connector 71"/>
          <p:cNvCxnSpPr/>
          <p:nvPr/>
        </p:nvCxnSpPr>
        <p:spPr>
          <a:xfrm>
            <a:off x="8339327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339327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4" name="Picture 73" descr="monitor_heart_2E5F9E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7725" y="4475805"/>
            <a:ext cx="174101" cy="174101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759951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呼吸与心跳估计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35431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7" name="Picture 76" descr="hourglass_1F5F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9175" y="4741164"/>
            <a:ext cx="228600" cy="2286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701783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拟研究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14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42415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系统总体拓扑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1480" y="1700784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摄像头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Camera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RGB 视频流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82496" y="1773936"/>
            <a:ext cx="1280160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28216" y="1865376"/>
            <a:ext cx="1188719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编码器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Encoder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7360" y="3319272"/>
            <a:ext cx="1170431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视频压缩编码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108960" y="1773936"/>
            <a:ext cx="2029968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1847088"/>
            <a:ext cx="2029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发射端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Transmitter (USRP N320)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266944" y="1773936"/>
            <a:ext cx="1810512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7FA5D4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66944" y="1847088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 OFDM 链路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Wireless OFDM Link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cam_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7" y="2340864"/>
            <a:ext cx="1700784" cy="9326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40096" y="3374136"/>
            <a:ext cx="166420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共享 ISAC OFDM 波形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(1024-FFT, 带循环前缀)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23760" y="1773936"/>
            <a:ext cx="1975104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1847088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接收端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Receiver (USRP B210)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345168" y="1773936"/>
            <a:ext cx="1207008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90888" y="1865376"/>
            <a:ext cx="11155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解码器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Decoder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400032" y="3319272"/>
            <a:ext cx="1097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视频解码重建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069848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4420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显示端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Display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75334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实时视频播放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1517904" y="2852928"/>
            <a:ext cx="146304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809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157216" y="2852928"/>
            <a:ext cx="91440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0957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17152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046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749039" y="4187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感知分支 Sensing Branches</a:t>
            </a:r>
            <a:endParaRPr sz="10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6144768" y="4114800"/>
            <a:ext cx="0" cy="109728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846320" y="4224528"/>
            <a:ext cx="2651759" cy="0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46320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498079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144768" y="3977639"/>
            <a:ext cx="0" cy="137161"/>
          </a:xfrm>
          <a:prstGeom prst="line">
            <a:avLst/>
          </a:prstGeom>
          <a:ln w="12700">
            <a:solidFill>
              <a:srgbClr val="8FA9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70332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0332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Monostatic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1" name="Picture 70" descr="cell_tower_2E7D5B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882896"/>
            <a:ext cx="402336" cy="40233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81304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基于回波信号的目标检测
• 距离 / 速度估计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12648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双基地感知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Bistatic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5" name="Picture 74" descr="sensors_2E7D5B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882896"/>
            <a:ext cx="402336" cy="40233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23620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利用发射—接收分置结构
• 多径抑制与目标定位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6"/>
          <a:srcRect l="14765" t="-4224" r="20820" b="37143"/>
          <a:stretch>
            <a:fillRect/>
          </a:stretch>
        </p:blipFill>
        <p:spPr>
          <a:xfrm>
            <a:off x="438785" y="2371090"/>
            <a:ext cx="878205" cy="68580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7"/>
          <a:srcRect t="22056" r="-449"/>
          <a:stretch>
            <a:fillRect/>
          </a:stretch>
        </p:blipFill>
        <p:spPr>
          <a:xfrm>
            <a:off x="3161665" y="2371090"/>
            <a:ext cx="1858645" cy="1081405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8"/>
          <a:srcRect l="10587" t="8870" r="15876" b="22667"/>
          <a:stretch>
            <a:fillRect/>
          </a:stretch>
        </p:blipFill>
        <p:spPr>
          <a:xfrm>
            <a:off x="7443470" y="2304415"/>
            <a:ext cx="1636395" cy="114173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9"/>
          <a:srcRect l="20377" r="17880" b="16204"/>
          <a:stretch>
            <a:fillRect/>
          </a:stretch>
        </p:blipFill>
        <p:spPr>
          <a:xfrm>
            <a:off x="10828655" y="2251710"/>
            <a:ext cx="100393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05840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研究内容 1：跨层优化与级联编码架构</a:t>
            </a:r>
            <a:endParaRPr sz="27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11480" y="166420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1737360"/>
            <a:ext cx="7644383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1737360"/>
            <a:ext cx="73883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级联编码与传输流程（发送端 → 无线信道 → 接收端）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11480" y="2157984"/>
            <a:ext cx="7644383" cy="2615184"/>
          </a:xfrm>
          <a:prstGeom prst="roundRect">
            <a:avLst>
              <a:gd name="adj" fmla="val 4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31720"/>
            <a:ext cx="69494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发送端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（编码与帧构建）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152144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5" name="Picture 24" descr="description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" y="2359152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88720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UDP Payload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70432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(N 字节)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2286000" y="2724912"/>
            <a:ext cx="137160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41448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0" name="Picture 29" descr="notes_3A6C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927" y="2359152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478024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字节长度前缀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59736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(Payload Length)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3575303" y="2724912"/>
            <a:ext cx="13716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730752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5" name="Picture 34" descr="grid_on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232" y="2359152"/>
            <a:ext cx="292608" cy="2926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767328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RS(255,K)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749039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4864607" y="2724912"/>
            <a:ext cx="13716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020055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39" descr="swap_horiz_3A6C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359152"/>
            <a:ext cx="292608" cy="2926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056631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交织 /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038343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LDPC(1008,504)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6153911" y="2724912"/>
            <a:ext cx="13716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309359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5" name="Picture 44" descr="equalizer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2359152"/>
            <a:ext cx="292608" cy="29260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345936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帧映射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27647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(子载波/导频/CP)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2441448" y="3200400"/>
            <a:ext cx="0" cy="54864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441448" y="3255264"/>
            <a:ext cx="2404872" cy="0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46320" y="3200400"/>
            <a:ext cx="0" cy="54864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167128" y="3273552"/>
            <a:ext cx="295351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长度前缀受 RS 保护（在同一个 RS 码字内）</a:t>
            </a:r>
            <a:endParaRPr sz="74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5742432" y="3547617"/>
            <a:ext cx="2212848" cy="4754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 w="9525">
            <a:solidFill>
              <a:srgbClr val="7FA5D4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3" name="Picture 52" descr="cell_tower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872" y="3620769"/>
            <a:ext cx="310896" cy="31089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163056" y="3565906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无线信道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（多径/多普勒/噪声/干扰）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6848856" y="3145536"/>
            <a:ext cx="0" cy="347345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75488" y="4206240"/>
            <a:ext cx="6400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接收端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（解码与还原）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1152144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8" name="Picture 57" descr="waves_3A6CA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3584" y="4315968"/>
            <a:ext cx="256032" cy="25603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536192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解调 / 解交织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（OFDM 解调）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2706624" y="4489704"/>
            <a:ext cx="182879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2907791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2" name="Picture 61" descr="hub_3A6CA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9232" y="4315968"/>
            <a:ext cx="256032" cy="25603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291839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LDPC 软译码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（LLR, 迭代译码）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4462271" y="4489704"/>
            <a:ext cx="18288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4663440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6" name="Picture 65" descr="grid_on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79" y="4315968"/>
            <a:ext cx="256032" cy="25603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047488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译码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（纠错, 去除冗余）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6217919" y="4489704"/>
            <a:ext cx="18288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419088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0" name="Picture 69" descr="smart_display_3A6C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0527" y="4315968"/>
            <a:ext cx="256032" cy="25603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803136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载荷还原 / H.264 解码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（视频帧输出）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2" name="Connector 71"/>
          <p:cNvCxnSpPr>
            <a:stCxn id="52" idx="1"/>
          </p:cNvCxnSpPr>
          <p:nvPr/>
        </p:nvCxnSpPr>
        <p:spPr>
          <a:xfrm flipH="1">
            <a:off x="1462913" y="3784981"/>
            <a:ext cx="4279265" cy="0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63040" y="4151376"/>
            <a:ext cx="0" cy="5486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462913" y="3785362"/>
            <a:ext cx="0" cy="329565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411480" y="4882896"/>
            <a:ext cx="7644383" cy="694944"/>
          </a:xfrm>
          <a:prstGeom prst="roundRect">
            <a:avLst>
              <a:gd name="adj" fmla="val 10000"/>
            </a:avLst>
          </a:prstGeom>
          <a:solidFill>
            <a:srgbClr val="FEF5F4"/>
          </a:solidFill>
          <a:ln w="9525">
            <a:solidFill>
              <a:srgbClr val="E8B9B3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6" name="Picture 75" descr="warning_C0392B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5065776"/>
            <a:ext cx="329184" cy="32918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969264" y="4919472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无外码时的风险：</a:t>
            </a:r>
            <a:endParaRPr sz="84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69264" y="5212080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无外码时，长度前缀裸露，单比特错误即可导致字节流错位，使后续 NAL 单元解析失败，造成持续性的大面积视频花屏。</a:t>
            </a:r>
            <a:endParaRPr sz="72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3977639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77639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4306824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06824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68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4636007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636007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65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4965192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965192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88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840480" y="5248656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字节长度前缀（裸露）</a:t>
            </a:r>
            <a:endParaRPr sz="6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749039" y="5431536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单比特错误</a:t>
            </a:r>
            <a:endParaRPr sz="66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89" name="Connector 88"/>
          <p:cNvCxnSpPr/>
          <p:nvPr/>
        </p:nvCxnSpPr>
        <p:spPr>
          <a:xfrm>
            <a:off x="5230368" y="5157216"/>
            <a:ext cx="402336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5760720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760720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089904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BE3E1"/>
          </a:solidFill>
          <a:ln w="6350">
            <a:solidFill>
              <a:srgbClr val="E8B9B3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089904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E8</a:t>
            </a:r>
            <a:endParaRPr sz="72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6419088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19088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65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6748272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48272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88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669280" y="524865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长度解析错误 → 字节流错位</a:t>
            </a:r>
            <a:endParaRPr sz="6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99" name="Connector 98"/>
          <p:cNvCxnSpPr/>
          <p:nvPr/>
        </p:nvCxnSpPr>
        <p:spPr>
          <a:xfrm flipH="1">
            <a:off x="5797296" y="4992624"/>
            <a:ext cx="18288" cy="274320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8211312" y="1737360"/>
            <a:ext cx="3566160" cy="385876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8211312" y="1737360"/>
            <a:ext cx="3566160" cy="402336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375904" y="1737360"/>
            <a:ext cx="331012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当前进展与修正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8321040" y="2231136"/>
            <a:ext cx="3346704" cy="713232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412480" y="2322576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5" name="Picture 104" descr="bar_chart_3A6CA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87968" y="2340864"/>
            <a:ext cx="256032" cy="256032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9217152" y="2286000"/>
            <a:ext cx="241401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容器误码放大因子 γ 已完成实测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在不同码率与信道条件下，获得 γ 的实测曲线与统计范围。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8321040" y="3035808"/>
            <a:ext cx="3346704" cy="896112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412480" y="3127248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9" name="Picture 108" descr="schedule_3A6CA8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87968" y="3145536"/>
            <a:ext cx="256032" cy="256032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9217152" y="3090672"/>
            <a:ext cx="2414015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队列优化后端到端时延约 250 ms，且无累积趋势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通过发送端队列管理与帧级调度，端到端时延稳定在约 250 ms，长时运行无明显累积。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8321040" y="4023360"/>
            <a:ext cx="3346704" cy="768096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412480" y="4114800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13" name="Picture 112" descr="settings_3A6CA8_35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87968" y="4133088"/>
            <a:ext cx="256032" cy="256032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9217152" y="4078224"/>
            <a:ext cx="2414015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调制/码率/GOP/CP 参数边界已获得阶段结果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完成关键参数组合的可行域与性能边界评估，得到初步的推荐范围。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8321040" y="4882896"/>
            <a:ext cx="3346704" cy="987551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412480" y="4974336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17" name="Picture 116" descr="description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4992624"/>
            <a:ext cx="256032" cy="256032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9217152" y="4937760"/>
            <a:ext cx="2414015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原 RS Pareto 结论因实现缺陷撤回，外码作用边界待重测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发现早期实验存在实现缺陷，原先关于 RS 的 Pareto 结论不再成立，外码何时开始作用及其激活边界有待重新测量与分析。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530352" y="5715000"/>
            <a:ext cx="365760" cy="365760"/>
          </a:xfrm>
          <a:prstGeom prst="ellipse">
            <a:avLst/>
          </a:prstGeom>
          <a:solidFill>
            <a:srgbClr val="E3ED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23" name="Picture 11" descr="logo.png"/>
          <p:cNvPicPr>
            <a:picLocks noChangeAspect="1"/>
          </p:cNvPicPr>
          <p:nvPr/>
        </p:nvPicPr>
        <p:blipFill>
          <a:blip r:embed="rId1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05840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研究内容 1：容器误码放大因子与分帧完整性</a:t>
            </a:r>
            <a:endParaRPr sz="26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11480" y="166420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1737360"/>
            <a:ext cx="6355080" cy="3364992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1480" y="1737360"/>
            <a:ext cx="6355080" cy="42062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2" name="Picture 21" descr="bar_chart_FFFFFF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810512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3544" y="1737360"/>
            <a:ext cx="575157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不同传输栈下的容器误码放大因子 γ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9496" y="2157984"/>
            <a:ext cx="6080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Measured Container Error Amplification Factor under Different Stacks</a:t>
            </a:r>
            <a:endParaRPr sz="76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2167128" y="2468879"/>
            <a:ext cx="0" cy="146304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47088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3617976" y="2468879"/>
            <a:ext cx="0" cy="1463040"/>
          </a:xfrm>
          <a:prstGeom prst="line">
            <a:avLst/>
          </a:prstGeom>
          <a:ln w="9525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97936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068824" y="2468879"/>
            <a:ext cx="0" cy="1463040"/>
          </a:xfrm>
          <a:prstGeom prst="line">
            <a:avLst/>
          </a:prstGeom>
          <a:ln w="9525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48784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519672" y="2468879"/>
            <a:ext cx="0" cy="1463040"/>
          </a:xfrm>
          <a:prstGeom prst="line">
            <a:avLst/>
          </a:prstGeom>
          <a:ln w="9525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99632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1,000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9496" y="2532887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MPEG-TS + VLC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167128" y="2560320"/>
            <a:ext cx="3915795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7787" y="251460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500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9496" y="2880359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MPEG-TS + ffplay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167128" y="2907791"/>
            <a:ext cx="3157177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79169" y="286207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150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9496" y="3227831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裸流 + ffplay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167128" y="3255263"/>
            <a:ext cx="1310246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32238" y="320954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8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39496" y="3575303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裸流 + GStreamer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167128" y="3602736"/>
            <a:ext cx="873497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5489" y="3557016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4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874520" y="4096511"/>
            <a:ext cx="4800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容器误码放大因子 γ（倍）  /  Container Error Amplification Factor γ (×)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39496" y="4407408"/>
            <a:ext cx="6099048" cy="603504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" y="4425696"/>
            <a:ext cx="595274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78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MPEG-TS 等容器封装在误码条件下显著放大视频错误，γ 可达百倍量级。</a:t>
            </a:r>
            <a:endParaRPr sz="78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30936" y="4608576"/>
            <a:ext cx="595274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78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采用裸流（H.264 Annex B）传输可显著降低容器误码放大效应。</a:t>
            </a:r>
            <a:endParaRPr sz="78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30936" y="4791456"/>
            <a:ext cx="595274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78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不同解码器的误码鲁棒性存在差异，GStreamer 的容错能力优于 ffplay。</a:t>
            </a:r>
            <a:endParaRPr sz="78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931152" y="1737360"/>
            <a:ext cx="4828032" cy="193852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931152" y="1737360"/>
            <a:ext cx="4828032" cy="42062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2" name="Picture 51" descr="grid_on_FFFFFF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810512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443216" y="1737360"/>
            <a:ext cx="42245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码字内的 2 字节长度前缀与分帧完整性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077456" y="2395728"/>
            <a:ext cx="952439" cy="420624"/>
          </a:xfrm>
          <a:prstGeom prst="roundRect">
            <a:avLst>
              <a:gd name="adj" fmla="val 4000"/>
            </a:avLst>
          </a:prstGeom>
          <a:solidFill>
            <a:srgbClr val="F9E3E0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77456" y="2414016"/>
            <a:ext cx="95243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长度前缀
2 字节
(Length)</a:t>
            </a:r>
            <a:endParaRPr sz="7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8029895" y="2395728"/>
            <a:ext cx="1587398" cy="420624"/>
          </a:xfrm>
          <a:prstGeom prst="roundRect">
            <a:avLst>
              <a:gd name="adj" fmla="val 4000"/>
            </a:avLst>
          </a:prstGeom>
          <a:solidFill>
            <a:srgbClr val="E7F0FA"/>
          </a:solidFill>
          <a:ln w="9525">
            <a:solidFill>
              <a:srgbClr val="9FBBDD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29895" y="2414016"/>
            <a:ext cx="158739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视频数据
L 字节
(H.264 NAL Unit)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617293" y="2395728"/>
            <a:ext cx="1995586" cy="420624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 w="9525">
            <a:solidFill>
              <a:srgbClr val="BFC3C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17293" y="2414016"/>
            <a:ext cx="199558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冗余
(253 – L) 字节
(Parity)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077456" y="2176272"/>
            <a:ext cx="453542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码字（255 字节）</a:t>
            </a:r>
            <a:endParaRPr sz="8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 flipV="1">
            <a:off x="7077456" y="2304288"/>
            <a:ext cx="0" cy="64008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077456" y="2304288"/>
            <a:ext cx="4535424" cy="0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612880" y="2304288"/>
            <a:ext cx="0" cy="64008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7095744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95744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571231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71231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986016" y="3438144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字节长度前缀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(Big-Endian)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8101583" y="3273552"/>
            <a:ext cx="438913" cy="0"/>
          </a:xfrm>
          <a:prstGeom prst="line">
            <a:avLst/>
          </a:prstGeom>
          <a:ln w="1524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119872" y="2852928"/>
            <a:ext cx="60350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单比特
错误</a:t>
            </a:r>
            <a:endParaRPr sz="62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8741664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41664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9217152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BE3E1"/>
          </a:solidFill>
          <a:ln w="7620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17152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5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650224" y="343814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长度解析错误</a:t>
            </a:r>
            <a:endParaRPr sz="70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(Length Parsing Error)</a:t>
            </a:r>
            <a:endParaRPr sz="6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10131552" y="3273552"/>
            <a:ext cx="365760" cy="0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10533888" y="3072384"/>
            <a:ext cx="1170432" cy="420624"/>
          </a:xfrm>
          <a:prstGeom prst="roundRect">
            <a:avLst>
              <a:gd name="adj" fmla="val 10000"/>
            </a:avLst>
          </a:prstGeom>
          <a:solidFill>
            <a:srgbClr val="FBE3E1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533888" y="3072384"/>
            <a:ext cx="117043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字节流失步</a:t>
            </a:r>
            <a:endParaRPr sz="76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(Byte-stream Misalignment)</a:t>
            </a:r>
            <a:endParaRPr sz="60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4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87552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研究内容 1：队列优化、参数边界</a:t>
            </a:r>
            <a:endParaRPr sz="26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11480" y="1645920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1700784"/>
            <a:ext cx="7040880" cy="384048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1700784"/>
            <a:ext cx="6784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1.  端到端时延测试结果（5 分钟）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11480" y="2103120"/>
            <a:ext cx="7040880" cy="239572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66928" y="3785615"/>
          <a:ext cx="713232" cy="713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66928" y="3785615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80%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89888" y="373075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解码端时延占比约 80%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89888" y="4023359"/>
            <a:ext cx="57607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时延主要由视频解码（H.264 解码与显示）引入，发送、传输及接收处理时延占比较小。</a:t>
            </a:r>
            <a:endParaRPr sz="96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11480" y="4608576"/>
            <a:ext cx="7040880" cy="384048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4608576"/>
            <a:ext cx="6784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2.  队列优化策略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11480" y="5010912"/>
            <a:ext cx="7040880" cy="84124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5084064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队列深度优化</a:t>
            </a:r>
            <a:endParaRPr sz="8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（缓存帧数）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27632" y="504748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32</a:t>
            </a:r>
            <a:endParaRPr sz="8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719072" y="5212080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19072" y="5268772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19072" y="5325465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19072" y="5382158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19072" y="5438851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19072" y="5495544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17904" y="5504688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优化前</a:t>
            </a:r>
            <a:endParaRPr sz="72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(易积压、时延大)</a:t>
            </a:r>
            <a:endParaRPr sz="6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2212848" y="5358384"/>
            <a:ext cx="310896" cy="0"/>
          </a:xfrm>
          <a:prstGeom prst="line">
            <a:avLst/>
          </a:prstGeom>
          <a:ln w="2540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615184" y="5047488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4 - 8</a:t>
            </a:r>
            <a:endParaRPr sz="8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98064" y="5285232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98064" y="5341924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98064" y="5398617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15184" y="5504688"/>
            <a:ext cx="7863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优化后</a:t>
            </a:r>
            <a:endParaRPr sz="72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(时延更稳定)</a:t>
            </a:r>
            <a:endParaRPr sz="6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3639312" y="5065776"/>
            <a:ext cx="0" cy="713232"/>
          </a:xfrm>
          <a:prstGeom prst="line">
            <a:avLst/>
          </a:prstGeom>
          <a:ln w="12700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803904" y="5084064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写入方式改进</a:t>
            </a:r>
            <a:endParaRPr sz="8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（发送端）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480560" y="5266944"/>
            <a:ext cx="1316736" cy="237744"/>
          </a:xfrm>
          <a:prstGeom prst="roundRect">
            <a:avLst>
              <a:gd name="adj" fmla="val 10000"/>
            </a:avLst>
          </a:prstGeom>
          <a:solidFill>
            <a:srgbClr val="FDF2F1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5266944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A33A2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queue.push(frame);</a:t>
            </a:r>
            <a:endParaRPr sz="740" b="0" i="0">
              <a:solidFill>
                <a:srgbClr val="A33A2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443984" y="5522976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阻塞式写入</a:t>
            </a:r>
            <a:endParaRPr sz="7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(可能引发排队积压)</a:t>
            </a:r>
            <a:endParaRPr sz="6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852160" y="5385816"/>
            <a:ext cx="274320" cy="0"/>
          </a:xfrm>
          <a:prstGeom prst="line">
            <a:avLst/>
          </a:prstGeom>
          <a:ln w="2032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163056" y="5266944"/>
            <a:ext cx="1225296" cy="237744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9525">
            <a:solidFill>
              <a:srgbClr val="9FBBDD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63056" y="5266944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queue.try_push();</a:t>
            </a:r>
            <a:endParaRPr sz="70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126480" y="552297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非阻塞式写入</a:t>
            </a:r>
            <a:endParaRPr sz="7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(丢弃过帧，降低时延波动)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644383" y="1700784"/>
            <a:ext cx="4133087" cy="41148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644383" y="1700784"/>
            <a:ext cx="4133087" cy="384048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08975" y="1700784"/>
            <a:ext cx="38770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3.  关键参数与阶段性结果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754111" y="2231136"/>
            <a:ext cx="3913631" cy="1152144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845552" y="2359152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0" name="Picture 59" descr="bar_chart_3A6C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395728"/>
            <a:ext cx="310896" cy="31089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778240" y="2322576"/>
            <a:ext cx="2834639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1200 kbps / GOP 30 综合最优</a:t>
            </a:r>
            <a:endParaRPr sz="9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在当前实验条件下，1200 kbps 码率与 GOP = 30 可在视频质量、时延与稳定性之间取得最佳平衡。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7754111" y="3419856"/>
            <a:ext cx="3913631" cy="1152144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845552" y="3547872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4" name="Picture 63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3584448"/>
            <a:ext cx="310896" cy="3108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778240" y="3511296"/>
            <a:ext cx="2834639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CP = 128 为室内最小可行保护间隔</a:t>
            </a:r>
            <a:endParaRPr sz="9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在室内静态场景下，CP = 128 可满足 OFDM 系统的可靠传输要求，进一步减小 CP 会导致误码率明显上升。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754111" y="4608576"/>
            <a:ext cx="3913631" cy="1152144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845552" y="4736592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8" name="Picture 67" descr="cell_tower_3A6C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4773168"/>
            <a:ext cx="310896" cy="310896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778240" y="4700016"/>
            <a:ext cx="2834639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16QAM 在 B210 上受 CPU 限制</a:t>
            </a:r>
            <a:endParaRPr sz="9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 USRP B210 平台上，16QAM 调制方式受限于主机 CPU 处理能力，实时传输时易出现处理瓶颈，稳定性不足。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6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32688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试验手段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103120" y="1591056"/>
            <a:ext cx="3476625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934210" y="1609090"/>
            <a:ext cx="7669530" cy="40005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9470" y="1609090"/>
            <a:ext cx="7402830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试验手段 / Experimental Means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2214880" y="2053590"/>
            <a:ext cx="323850" cy="32385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11120" y="2127885"/>
            <a:ext cx="3810635" cy="3244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硬件平台与试验场景</a:t>
            </a:r>
            <a:r>
              <a:rPr sz="11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 /  Hardware Platform &amp; Test Scenario</a:t>
            </a:r>
            <a:endParaRPr sz="11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4" name="Picture 23" descr="cam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285" y="2505710"/>
            <a:ext cx="685800" cy="53276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68855" y="3054350"/>
            <a:ext cx="952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上位机</a:t>
            </a:r>
            <a:endParaRPr sz="6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（视频源 / 控制）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3263392" y="2724912"/>
            <a:ext cx="323215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43250" y="250571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USB 3.0</a:t>
            </a:r>
            <a:endParaRPr sz="5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8" name="Picture 27" descr="cam_n3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635" y="2523490"/>
            <a:ext cx="1219200" cy="381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516630" y="2944495"/>
            <a:ext cx="1295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USRP N320</a:t>
            </a:r>
            <a:endParaRPr sz="6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(ISAC 发射端)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4875276" y="2724912"/>
            <a:ext cx="265430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cam_ante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655" y="2377440"/>
            <a:ext cx="1162050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93335" y="3035935"/>
            <a:ext cx="1200150" cy="4197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室内视距 (LOS)</a:t>
            </a:r>
            <a:endParaRPr sz="6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距离约 5 m  /  fc = 3.1 GHz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6356604" y="2724912"/>
            <a:ext cx="265430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cam_b2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840" y="2541905"/>
            <a:ext cx="1181100" cy="34226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54470" y="2944495"/>
            <a:ext cx="12573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USRP B210</a:t>
            </a:r>
            <a:endParaRPr sz="6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(ISAC 接收端)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7837932" y="2724912"/>
            <a:ext cx="265430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843520" y="250571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USB 3.0</a:t>
            </a:r>
            <a:endParaRPr sz="5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cam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005" y="2505710"/>
            <a:ext cx="685800" cy="53276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029575" y="3054350"/>
            <a:ext cx="952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数据采集与处理</a:t>
            </a:r>
            <a:endParaRPr sz="6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（显示 / 记录）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14880" y="3443605"/>
            <a:ext cx="323850" cy="32385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611120" y="3517900"/>
            <a:ext cx="3810635" cy="3244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波形与协议</a:t>
            </a:r>
            <a:r>
              <a:rPr sz="11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 /  Waveform &amp; Protocol</a:t>
            </a:r>
            <a:endParaRPr sz="11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2259330" y="3779520"/>
            <a:ext cx="342265" cy="342265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4" name="Picture 43" descr="equalizer_2E5F9E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6640" y="3842385"/>
            <a:ext cx="212090" cy="21209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724150" y="384048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基本参数</a:t>
            </a:r>
            <a:endParaRPr sz="1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343150" y="411480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FFT 点数：1024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343150" y="427037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循环前缀：128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343150" y="442595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符号数：100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343150" y="458089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信号带宽：50 MHz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343150" y="473646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调制方式：QPSK / 16QAM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636770" y="3779520"/>
            <a:ext cx="342265" cy="342265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2" name="Picture 51" descr="movie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4080" y="3842385"/>
            <a:ext cx="212090" cy="21209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101590" y="384048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视频编码与传输</a:t>
            </a:r>
            <a:endParaRPr sz="1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20590" y="411480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编码标准：H.264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720590" y="427037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分辨率：640 × 480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720590" y="442595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帧率：20 fps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720590" y="458089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传输框架：GStreamer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720590" y="473646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传输封装：RTP/UDP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7014210" y="3779520"/>
            <a:ext cx="342265" cy="342265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0" name="Picture 59" descr="description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1520" y="3842385"/>
            <a:ext cx="212090" cy="21209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479030" y="384048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系统协议与配置</a:t>
            </a:r>
            <a:endParaRPr sz="1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098030" y="411480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OFDM-ISAC 一体化帧结构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098030" y="427037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载荷映射：数据 + 导频 + 保护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098030" y="442595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时频资源统一配置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098030" y="458089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支持实时参数动态调整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098030" y="473646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收发端时间同步与记录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23" name="Picture 11" descr="logo.png"/>
          <p:cNvPicPr>
            <a:picLocks noChangeAspect="1"/>
          </p:cNvPicPr>
          <p:nvPr/>
        </p:nvPicPr>
        <p:blipFill>
          <a:blip r:embed="rId9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14400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现有研究工作基础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1480" y="157276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1591056"/>
            <a:ext cx="11368735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161848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16184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A6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1" i="0">
              <a:solidFill>
                <a:srgbClr val="0A2A6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3544" y="1591056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平台与链路  /  Platform and Link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11480" y="1975104"/>
            <a:ext cx="11368735" cy="65836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5" name="Picture 24" descr="settings_2E5F9E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2139696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5840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OpenISAC 平台部署完成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24128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基于 OpenISAC 框架完成系统部署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4128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实现发送端、无线链路与接收端全链路运行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4169663" y="2048256"/>
            <a:ext cx="0" cy="530352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315968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1" name="Picture 30" descr="cell_tower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139696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91456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N320 + B210 空口链路搭建完成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09744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采用 USRP N320（发射端）与 B210（接收端）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09744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完成 OFDM 通感一体化空口链路搭建与调试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7955279" y="2048256"/>
            <a:ext cx="0" cy="530352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101583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7" name="Picture 36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139696"/>
            <a:ext cx="219456" cy="2194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77072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实时视频与感知并行运行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59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实现 1080p、30 fps 实时视频传输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95359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同步运行微动感知处理与结果输出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11480" y="2743200"/>
            <a:ext cx="11368735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1208" y="277063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" y="2770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A6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1" i="0">
              <a:solidFill>
                <a:srgbClr val="0A2A6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3544" y="2743200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初步研究结果  /  Preliminary Results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11480" y="3145536"/>
            <a:ext cx="42245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1）</a:t>
            </a:r>
            <a:r>
              <a:rPr 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相同</a:t>
            </a:r>
            <a:r>
              <a:rPr lang="en-US" alt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γ 值下</a:t>
            </a:r>
            <a:r>
              <a:rPr 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不同组合</a:t>
            </a: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的实测结果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73168" y="3145536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2）端到端时延测试结果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046720" y="3145536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3） CP 对比实验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815584" y="5705856"/>
            <a:ext cx="0" cy="658368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67" name="Picture 2"/>
          <p:cNvPicPr>
            <a:picLocks noChangeAspect="1"/>
          </p:cNvPicPr>
          <p:nvPr/>
        </p:nvPicPr>
        <p:blipFill>
          <a:blip r:embed="rId6"/>
          <a:srcRect l="15802" b="14861"/>
          <a:stretch>
            <a:fillRect/>
          </a:stretch>
        </p:blipFill>
        <p:spPr>
          <a:xfrm>
            <a:off x="521335" y="3364865"/>
            <a:ext cx="3717925" cy="1944370"/>
          </a:xfrm>
          <a:prstGeom prst="rect">
            <a:avLst/>
          </a:prstGeom>
        </p:spPr>
      </p:pic>
      <p:pic>
        <p:nvPicPr>
          <p:cNvPr id="68" name="Picture 4"/>
          <p:cNvPicPr>
            <a:picLocks noChangeAspect="1"/>
          </p:cNvPicPr>
          <p:nvPr/>
        </p:nvPicPr>
        <p:blipFill>
          <a:blip r:embed="rId7"/>
          <a:srcRect r="49401"/>
          <a:stretch>
            <a:fillRect/>
          </a:stretch>
        </p:blipFill>
        <p:spPr>
          <a:xfrm>
            <a:off x="4590415" y="3279775"/>
            <a:ext cx="2706370" cy="2004060"/>
          </a:xfrm>
          <a:prstGeom prst="rect">
            <a:avLst/>
          </a:prstGeom>
        </p:spPr>
      </p:pic>
      <p:sp>
        <p:nvSpPr>
          <p:cNvPr id="2" name="bg"/>
          <p:cNvSpPr/>
          <p:nvPr/>
        </p:nvSpPr>
        <p:spPr>
          <a:xfrm>
            <a:off x="6995160" y="3277235"/>
            <a:ext cx="624205" cy="53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graphicFrame>
        <p:nvGraphicFramePr>
          <p:cNvPr id="70" name="Table 4"/>
          <p:cNvGraphicFramePr>
            <a:graphicFrameLocks noGrp="1"/>
          </p:cNvGraphicFramePr>
          <p:nvPr/>
        </p:nvGraphicFramePr>
        <p:xfrm>
          <a:off x="7682230" y="3352165"/>
          <a:ext cx="4107815" cy="191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1298575"/>
                <a:gridCol w="1965325"/>
              </a:tblGrid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指标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CP = 128（基线）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213E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CP = 64（实验）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213E60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CP 开销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12.5%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6.7%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吞吐增益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835E"/>
                          </a:solidFill>
                          <a:latin typeface="微软雅黑" panose="020B0503020204020204" charset="-122"/>
                        </a:rPr>
                        <a:t>+5.9%</a:t>
                      </a:r>
                      <a:endParaRPr sz="1000" b="1">
                        <a:solidFill>
                          <a:srgbClr val="14835E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4508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同步状态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835E"/>
                          </a:solidFill>
                          <a:latin typeface="微软雅黑" panose="020B0503020204020204" charset="-122"/>
                        </a:rPr>
                        <a:t>✓  持续稳定</a:t>
                      </a:r>
                      <a:endParaRPr sz="1000" b="1">
                        <a:solidFill>
                          <a:srgbClr val="14835E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✕  “No valid delay found” 循环</a:t>
                      </a:r>
                      <a:endParaRPr sz="1000" b="1">
                        <a:solidFill>
                          <a:srgbClr val="B93443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1F2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CFO 估计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7.4 kHz（约 2.3 ppm）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7.4 → 95 kHz</a:t>
                      </a:r>
                      <a:r>
                        <a:rPr sz="1000" b="0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
（30.6 ppm，物理不可实现）</a:t>
                      </a:r>
                      <a:endParaRPr sz="1000" b="0">
                        <a:solidFill>
                          <a:srgbClr val="B93443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71" name="bg"/>
          <p:cNvSpPr/>
          <p:nvPr/>
        </p:nvSpPr>
        <p:spPr>
          <a:xfrm>
            <a:off x="4408805" y="3277235"/>
            <a:ext cx="273050" cy="3289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14400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7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研究计划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1480" y="230428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2025.09 – 2026.06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课程学习与平台熟悉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2120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school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3145536"/>
            <a:ext cx="182880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完成培养计划规定的课程学习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6" name="Picture 25" descr="menu_book_3A6C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383280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学习 ISAC 与 H.264/OFDM 基础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8" name="Picture 27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621024"/>
            <a:ext cx="182880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搭建实验环境，熟悉实验平台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310896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4612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5584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9476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2026.07 – 2026.09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9476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 完成与论文初稿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335584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terminal_3A6C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3145536"/>
            <a:ext cx="182880" cy="1828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61188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</a:t>
            </a:r>
            <a:r>
              <a:rPr lang="zh-CN"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平台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部署与 RS 模块开发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bar_chart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4136" y="3383280"/>
            <a:ext cx="182880" cy="18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61188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完成研究内容 1 的相关实验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0" name="Picture 39" descr="description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621024"/>
            <a:ext cx="182880" cy="1828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61188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撰写论文初稿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94360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08076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9048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2940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2026.09 – 2026.12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2940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 启动与中期检查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619048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3145536"/>
            <a:ext cx="182880" cy="18288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44652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 RS 替换实现与单元测试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0" name="Picture 49" descr="ssid_chart_3A6CA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3383280"/>
            <a:ext cx="182880" cy="1828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44652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开展激活点测量实验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2" name="Picture 51" descr="hub_3A6CA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776" y="3621024"/>
            <a:ext cx="182880" cy="1828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44652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建立自适应映射模型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4" name="Picture 53" descr="fact_check_3A6C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8776" y="3858768"/>
            <a:ext cx="182880" cy="18288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446520" y="384048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中期检查与阶段性总结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877824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91540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02512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46404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2027.01 – 2028.06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46404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2/3 完成与论文答辩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902512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 descr="bar_chart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416" y="3145536"/>
            <a:ext cx="182880" cy="1828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28116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完成自适应传输实验与性能评估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4" name="Picture 63" descr="cell_tower_3A6CA8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3416" y="3383280"/>
            <a:ext cx="182880" cy="18288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28116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完成微动感知验证实验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6" name="Picture 65" descr="description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3416" y="3621024"/>
            <a:ext cx="182880" cy="18288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28116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撰写硕士学位论文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8" name="Picture 67" descr="school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416" y="3858768"/>
            <a:ext cx="182880" cy="18288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281160" y="384048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预答辩与正式答辩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530352" y="5477256"/>
            <a:ext cx="365760" cy="365760"/>
          </a:xfrm>
          <a:prstGeom prst="ellipse">
            <a:avLst/>
          </a:prstGeom>
          <a:solidFill>
            <a:srgbClr val="E3ED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08" name="Picture 107" descr="target_1F5FA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188" y="5543092"/>
            <a:ext cx="234086" cy="234086"/>
          </a:xfrm>
          <a:prstGeom prst="rect">
            <a:avLst/>
          </a:prstGeom>
        </p:spPr>
      </p:pic>
      <p:pic>
        <p:nvPicPr>
          <p:cNvPr id="109" name="Picture 11" descr="logo.png"/>
          <p:cNvPicPr>
            <a:picLocks noChangeAspect="1"/>
          </p:cNvPicPr>
          <p:nvPr/>
        </p:nvPicPr>
        <p:blipFill>
          <a:blip r:embed="rId13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896112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可能困难、问题及对策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11480" y="1664208"/>
            <a:ext cx="3749039" cy="2450592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1810512"/>
            <a:ext cx="475488" cy="475488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43000" y="1874774"/>
            <a:ext cx="2889503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微弱信号检测风险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57784" y="2505456"/>
            <a:ext cx="3456431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76072" y="2596896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7" name="Picture 26" descr="ecg_heart_2E5F9E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16" y="2659440"/>
            <a:ext cx="204094" cy="20409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14984" y="254203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人体微动的心跳相位变化幅度极小，信号易被噪声及静态杂波淹没。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1014984" y="3017520"/>
            <a:ext cx="2980944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76072" y="3090672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1" name="Picture 30" descr="bar_chart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16" y="3153216"/>
            <a:ext cx="204094" cy="20409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14984" y="303580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SDR 硬件的相位噪声可能限制微动特征的有效提取。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1014984" y="3511296"/>
            <a:ext cx="2980944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76072" y="3584448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5" name="Picture 34" descr="track_changes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16" y="3646992"/>
            <a:ext cx="204094" cy="20409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14984" y="35295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采用 C → B → A 的分阶段递进目标，从粗到精降低研究风险。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306824" y="1664208"/>
            <a:ext cx="3749039" cy="2450592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53128" y="1810512"/>
            <a:ext cx="475488" cy="475488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38344" y="1874774"/>
            <a:ext cx="2889503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在线切换稳定性风险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4453128" y="2505456"/>
            <a:ext cx="3456431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471416" y="2596896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3" name="Picture 42" descr="settings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960" y="2659440"/>
            <a:ext cx="204094" cy="20409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910328" y="254203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感知/通信参数的动态切换可能影响 OFDM 帧同步和视频帧结构稳定性。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4910328" y="3017520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471416" y="3090672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7" name="Picture 46" descr="hub_2E5F9E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3960" y="3153216"/>
            <a:ext cx="204094" cy="20409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910328" y="303580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 OFDM 帧边界与 GOP 边界处限制切换，避免中途切换带来的异常。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4910328" y="3511296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4471416" y="3584448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1" name="Picture 50" descr="sync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960" y="3646992"/>
            <a:ext cx="204094" cy="20409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910328" y="35295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预置回退配置，在切换异常时能够快速恢复至稳定工作状态。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8202167" y="1664208"/>
            <a:ext cx="3749039" cy="2450592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348471" y="1810512"/>
            <a:ext cx="475488" cy="475488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933688" y="1874774"/>
            <a:ext cx="2889503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双功能资源冲突与环境不确定性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348471" y="2505456"/>
            <a:ext cx="3456432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8366759" y="2596896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9" name="Picture 58" descr="database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304" y="2659440"/>
            <a:ext cx="204094" cy="20409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805672" y="254203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较长的感知观测窗可能与视频实时传输的低时延需求产生资源竞争。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8805672" y="3017520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8366759" y="3090672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3" name="Picture 62" descr="bar_chart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304" y="3153216"/>
            <a:ext cx="204094" cy="20409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805672" y="303580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量化感知与通信的兼容工作区域，评估不同配置下的性能权衡。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8805672" y="3511296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8366759" y="3584448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7" name="Picture 66" descr="fact_check_2E5F9E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9304" y="3646992"/>
            <a:ext cx="204094" cy="20409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805672" y="35295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通过可控的重复实验与环境记录，分析不同场景（室内/室外/移动）的影响。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411480" y="4261104"/>
            <a:ext cx="11368735" cy="1243584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352" y="4389120"/>
            <a:ext cx="384048" cy="384048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1" name="Picture 70" descr="description_2E5F9E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321" y="4462089"/>
            <a:ext cx="238109" cy="23810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05840" y="4426077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研究总结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endParaRPr sz="16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3" name="Connector 72"/>
          <p:cNvCxnSpPr/>
          <p:nvPr/>
        </p:nvCxnSpPr>
        <p:spPr>
          <a:xfrm>
            <a:off x="2615184" y="4407408"/>
            <a:ext cx="0" cy="950976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761488" y="4425696"/>
            <a:ext cx="237744" cy="23774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8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090672" y="4407408"/>
            <a:ext cx="894557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本研究基于真实的开源 OFDM-ISAC 平台开展，具有可复现的实验基础和实际验证条件。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2761488" y="4773168"/>
            <a:ext cx="237744" cy="23774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endParaRPr sz="8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090672" y="4754880"/>
            <a:ext cx="894557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 已取得初步的基线数据与阶段性结果，研究内容 2 和 3 的方案与技术路线已明确，后续将按计划推进。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2761488" y="5120640"/>
            <a:ext cx="237744" cy="23774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</a:t>
            </a:r>
            <a:endParaRPr sz="8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090672" y="5102352"/>
            <a:ext cx="894557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本研究既具有工程应用价值（多功能融合、实时性），也具有一定的学术创新性（跨层优化、微动感知与视频传输协同设计）。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301752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26948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11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301752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26948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004060" y="2532888"/>
            <a:ext cx="8183879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汇报完毕，敬请各位老师批评指正</a:t>
            </a:r>
            <a:endParaRPr sz="40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0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0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5550</Words>
  <Application>WPS 演示</Application>
  <PresentationFormat>On-screen Show (4:3)</PresentationFormat>
  <Paragraphs>792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Arial</vt:lpstr>
      <vt:lpstr>Segoe UI</vt:lpstr>
      <vt:lpstr>微软雅黑</vt:lpstr>
      <vt:lpstr>Source Han Serif SC Heavy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还是你最可爱</cp:lastModifiedBy>
  <cp:revision>5</cp:revision>
  <dcterms:created xsi:type="dcterms:W3CDTF">2013-01-27T09:14:00Z</dcterms:created>
  <dcterms:modified xsi:type="dcterms:W3CDTF">2026-10-21T03:09:10Z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17948D07919640C68EB81743EAA37F24_13</vt:lpwstr>
  </property>
</Properties>
</file>