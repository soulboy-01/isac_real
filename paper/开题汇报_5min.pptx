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6"/>
    <p:sldId id="262" r:id="rId9"/>
    <p:sldId id="264" r:id="rId10"/>
    <p:sldId id="266" r:id="rId12"/>
    <p:sldId id="267" r:id="rId13"/>
    <p:sldId id="276" r:id="rId16"/>
    <p:sldId id="278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4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1F5FA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DCE7F4"/>
              </a:solidFill>
              <a:ln w="12700">
                <a:solidFill>
                  <a:srgbClr val="FFFFFF"/>
                </a:solidFill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decode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d29733f7-7593-4a76-971b-d8d4beb685e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开场：各位老师好，我是通信工程专业叶嘉锐，导师徐</a:t>
            </a:r>
            <a:r>
              <a:rPr lang="zh-CN"/>
              <a:t>志</a:t>
            </a:r>
            <a:r>
              <a:t>京、实践导师丁鹏仁。我的开题题目是《</a:t>
            </a:r>
            <a:r>
              <a:rPr lang="zh-CN" altLang="en-US"/>
              <a:t>面向实时视频业务的 </a:t>
            </a:r>
            <a:r>
              <a:rPr lang="en-US" altLang="zh-CN"/>
              <a:t>OFDM-ISAC </a:t>
            </a:r>
            <a:r>
              <a:rPr lang="zh-CN" altLang="en-US"/>
              <a:t>跨层传输与感知共存研究</a:t>
            </a:r>
            <a:r>
              <a:t>》，下面按背景与动机、研究现状、研究内容与关键问题、方法与技术路线、现有基础与计划五部分汇报。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汇报分五部分：研究背景及意义、国内外研究现状、研究内容与关键问题、研究方法与技术路线、现有基础、进度与预期成果。逻辑是背景与动机 → 研究现状 → 研究方案 → 技术路线 → 计划与展望。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6G 时代 ITU-R M.2160 已将 ISAC 列为六大场景之一，通信与感知共享硬件、频谱与 OFDM 波形。但实时视频业务要求高吞吐、低时延且无长期累积，H.264 帧间预测对残留误码极其敏感，物理层误差会与容器、解码、缓冲紧密耦合。另一方面，非接触生命体征感知需要 0.1–0.5 Hz 呼吸与 0.8–2.0 Hz 心跳信息，同一波形同时承载通信与感知具有低成本优势。因此本题的核心是：在同一 OFDM 波形上联合研究实时视频传输与人体微动感知。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研究目的三条：一是建立强编码 OFDM-ISAC 链路上的实时视频跨层优化方案；二是构建依据信道状态自适应调整的可靠传输机制；三是探索基于通信波形相干相位的非接触微动感知方法。意义分两层：理论上补足连续媒体业务在真实 ISAC 链路上的端到端研究并给出可复用的跨层分析框架；工程上全部基于开源 OpenISAC 平台实现，可指导低成本 ISAC 原型系统部署，面向智慧港口、应急搜救与健康监测等场景。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四类相关工作：ISAC 平台与空口实验以感知精度和链路吞吐为主；无线视频传输的跨层设计研究很丰富，但通常假设物理层固定，缺少与可配置 ISAC 物理层的联合设计；级联信道编码方面 R S 外码强度多依赖最坏情况建模，其真实作用边界在 ISAC 场景下仍待实测；人体感知研究活跃，但基于开源 OFDM-ISAC 平台、与实时视频并发运行的微动感知研究较少。所以结论是缺少一个“真实平台 + 视频业务 + 微动感知”的一体化实验研究。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总体目标是建立强编码 OFDM-ISAC 链路上“实时视频业务 + 人体微动感知”的跨层设计与实验方法体系。三项研究内容：内容 1 实时视频传输的跨层优化（部分完成）；内容 2 信道自适应的可靠传输机制（拟研究）；内容 3 基于通信波形的非接触微动感知（拟研究）。需说明：原 RS 外码部分结论因实现缺陷已撤回，相关边界问题转入内容 2 的激活点实验中重测。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级联编码流程：UDP 载荷加 2 字节长度前缀，前缀与载荷处在同一个 RS(255,K) 码字内，再经交织、LDPC(1008,504)，最后做 OFDM 帧映射。接收端依次解调、LDPC 软译码、RS 译码、载荷还原与 H.264 解码。风险在于：没有外码时长度前缀裸露，一个比特错误就会导致长度解析失败、字节流错位、NAL 解析失败，出现大面积花屏。右侧是当前进展，其中原 RS Pareto 结论已因实现缺陷撤回。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第一项结果：容器误码放大因子 γ。MPEG-TS + VLC 可达约 500 倍，MPEG-TS + ffplay 约 150 倍，而裸流 + ffplay 约 8 倍、裸流 + GStreamer 约 4 倍，说明容器封装会显著放大误码。第二个发现：2 字节长度前缀在 RS 码字内，单比特错误就会导致长度解析错误和字节流失步，所以分帧信息的完整性必须重点保障。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端到端时延测试 5 分钟，时延稳定在 233-266 ms，平均约 250 ms，无明显累计上升趋势；其中解码端占比约 80%。第二块是队列优化：队列深度从 32 降到 4-8，写入方式由阻塞式 push 改为 try_push，避免排队积压。第三块是关键参数：1200 kbps 与 GOP 30 综合最优；CP = 128 是室内最小可行保护间隔；16QAM 在 B210 上受主机 CPU 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试验手段分三块：硬件平台与试验场景（上位机、N320 发射、对数周期天线、室内视距约 5 m、3.1 GHz、B210 接收、数据采集）；波形与协议（1024 点 FFT、CP 128、50 MHz 带宽、H.264 640x480@20fps、GStreamer + RTP/UDP）；测量方法（BER 扫描、时延测量、可靠性、语义保持、相位频谱）。关键技术四项：运行时 RS 参数可重构、跨层参数联动、导频相位高精度复用、长时间相干累积与相位噪声抑制。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32.png"/><Relationship Id="rId2" Type="http://schemas.openxmlformats.org/officeDocument/2006/relationships/image" Target="../media/image15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16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14.png"/><Relationship Id="rId10" Type="http://schemas.openxmlformats.org/officeDocument/2006/relationships/image" Target="../media/image4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4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66.png"/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6.png"/><Relationship Id="rId7" Type="http://schemas.openxmlformats.org/officeDocument/2006/relationships/image" Target="../media/image10.png"/><Relationship Id="rId6" Type="http://schemas.openxmlformats.org/officeDocument/2006/relationships/image" Target="../media/image45.png"/><Relationship Id="rId5" Type="http://schemas.openxmlformats.org/officeDocument/2006/relationships/image" Target="../media/image71.png"/><Relationship Id="rId4" Type="http://schemas.openxmlformats.org/officeDocument/2006/relationships/image" Target="../media/image47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72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78.png"/><Relationship Id="rId7" Type="http://schemas.openxmlformats.org/officeDocument/2006/relationships/image" Target="../media/image54.png"/><Relationship Id="rId6" Type="http://schemas.openxmlformats.org/officeDocument/2006/relationships/image" Target="../media/image64.png"/><Relationship Id="rId5" Type="http://schemas.openxmlformats.org/officeDocument/2006/relationships/image" Target="../media/image77.png"/><Relationship Id="rId4" Type="http://schemas.openxmlformats.org/officeDocument/2006/relationships/image" Target="../media/image66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image" Target="../media/image38.png"/><Relationship Id="rId11" Type="http://schemas.openxmlformats.org/officeDocument/2006/relationships/image" Target="../media/image59.png"/><Relationship Id="rId10" Type="http://schemas.openxmlformats.org/officeDocument/2006/relationships/image" Target="../media/image7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40.png"/><Relationship Id="rId7" Type="http://schemas.openxmlformats.org/officeDocument/2006/relationships/image" Target="../media/image43.png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80.png"/><Relationship Id="rId3" Type="http://schemas.openxmlformats.org/officeDocument/2006/relationships/image" Target="../media/image39.png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591056"/>
            <a:ext cx="11094415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4000" b="0" i="0" spc="2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0240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37" y="4457517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22576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457517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08975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description_1F5F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73" y="4457517"/>
            <a:ext cx="174101" cy="1741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1311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专业：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通信工程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920240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group_1F5F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637" y="4896429"/>
            <a:ext cx="174101" cy="174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22576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指导教师：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徐</a:t>
            </a:r>
            <a:r>
              <a:rPr lang="zh-CN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志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京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64608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3" name="Picture 32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05" y="4896429"/>
            <a:ext cx="174101" cy="1741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实践导师：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丁鹏仁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08975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event_1F5F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373" y="4896429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311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lang="en-US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.10.28</a:t>
            </a:r>
            <a:endParaRPr lang="en-US"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0001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438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4592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Contents</a:t>
            </a:r>
            <a:endParaRPr sz="17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3617823" y="4754880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3818991" y="4928616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3818991" y="49286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4550511" y="4956048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4696815" y="506603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研究背景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0935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2144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 与通感一体化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538728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5216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2816352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DBDE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</a:t>
            </a:r>
            <a:endParaRPr sz="3200" b="1" i="0">
              <a:solidFill>
                <a:srgbClr val="9DBDE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sensors_7FA5D4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926080"/>
            <a:ext cx="292608" cy="29260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15798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95144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2303" y="2907792"/>
            <a:ext cx="45720" cy="420624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9463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662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103120" y="3328416"/>
            <a:ext cx="786384" cy="0"/>
          </a:xfrm>
          <a:prstGeom prst="line">
            <a:avLst/>
          </a:prstGeom>
          <a:ln w="12700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0" y="3346704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8FB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</a:t>
            </a:r>
            <a:endParaRPr sz="750" b="0" i="0">
              <a:solidFill>
                <a:srgbClr val="6E8FB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1792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383572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4128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ITU-R M.2160 将 ISAC 列为 6G 六大场景之一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21792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33864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通信与感知共享硬件、频谱与 OFDM 波形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621792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1792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841565"/>
            <a:ext cx="174101" cy="1741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面向智慧交通、智慧港口、健康监测等应用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33672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79976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28616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实时视频业务的挑战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361688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62855" y="291693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7719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7719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1747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1747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65775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5775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9803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89803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4928616" y="3072384"/>
            <a:ext cx="219456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568696" y="3154680"/>
            <a:ext cx="182879" cy="0"/>
          </a:xfrm>
          <a:prstGeom prst="line">
            <a:avLst/>
          </a:prstGeom>
          <a:ln w="12700">
            <a:solidFill>
              <a:srgbClr val="8FB0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84301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1733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165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6597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13448" y="307238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B0D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···</a:t>
            </a:r>
            <a:endParaRPr sz="1400" b="0" i="0">
              <a:solidFill>
                <a:srgbClr val="8FB0D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4398264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8" name="Picture 67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3835725"/>
            <a:ext cx="174101" cy="17410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00600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高吞吐、低时延、无长期累积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398264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98264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2" name="Picture 71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338645"/>
            <a:ext cx="174101" cy="17410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00600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帧间预测对残留误码敏感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398264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98264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841565"/>
            <a:ext cx="174101" cy="17410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物理层误差与容器/解码/缓冲紧密耦合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010144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56448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705088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感知共存的应用需求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11091672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138160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3" name="Picture 82" descr="person_C3D7EC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743200"/>
            <a:ext cx="786384" cy="786384"/>
          </a:xfrm>
          <a:prstGeom prst="rect">
            <a:avLst/>
          </a:prstGeom>
        </p:spPr>
      </p:pic>
      <p:sp>
        <p:nvSpPr>
          <p:cNvPr id="84" name="Freeform 83"/>
          <p:cNvSpPr/>
          <p:nvPr/>
        </p:nvSpPr>
        <p:spPr>
          <a:xfrm>
            <a:off x="8796528" y="3012811"/>
            <a:ext cx="1188720" cy="246967"/>
          </a:xfrm>
          <a:custGeom>
            <a:avLst/>
            <a:gdLst/>
            <a:ahLst/>
            <a:cxnLst/>
            <a:rect l="l" t="t" r="r" b="b"/>
            <a:pathLst>
              <a:path w="1188720" h="246967">
                <a:moveTo>
                  <a:pt x="0" y="141869"/>
                </a:moveTo>
                <a:lnTo>
                  <a:pt x="19812" y="155529"/>
                </a:lnTo>
                <a:lnTo>
                  <a:pt x="39624" y="169352"/>
                </a:lnTo>
                <a:lnTo>
                  <a:pt x="59436" y="182942"/>
                </a:lnTo>
                <a:lnTo>
                  <a:pt x="79248" y="195896"/>
                </a:lnTo>
                <a:lnTo>
                  <a:pt x="99060" y="207814"/>
                </a:lnTo>
                <a:lnTo>
                  <a:pt x="118872" y="218306"/>
                </a:lnTo>
                <a:lnTo>
                  <a:pt x="138684" y="227011"/>
                </a:lnTo>
                <a:lnTo>
                  <a:pt x="158496" y="233604"/>
                </a:lnTo>
                <a:lnTo>
                  <a:pt x="178308" y="237807"/>
                </a:lnTo>
                <a:lnTo>
                  <a:pt x="198120" y="239402"/>
                </a:lnTo>
                <a:lnTo>
                  <a:pt x="217932" y="238235"/>
                </a:lnTo>
                <a:lnTo>
                  <a:pt x="237744" y="234227"/>
                </a:lnTo>
                <a:lnTo>
                  <a:pt x="257556" y="227379"/>
                </a:lnTo>
                <a:lnTo>
                  <a:pt x="277368" y="217773"/>
                </a:lnTo>
                <a:lnTo>
                  <a:pt x="297180" y="205575"/>
                </a:lnTo>
                <a:lnTo>
                  <a:pt x="316992" y="191034"/>
                </a:lnTo>
                <a:lnTo>
                  <a:pt x="336804" y="174474"/>
                </a:lnTo>
                <a:lnTo>
                  <a:pt x="356616" y="156293"/>
                </a:lnTo>
                <a:lnTo>
                  <a:pt x="376428" y="136952"/>
                </a:lnTo>
                <a:lnTo>
                  <a:pt x="396240" y="116964"/>
                </a:lnTo>
                <a:lnTo>
                  <a:pt x="416052" y="96882"/>
                </a:lnTo>
                <a:lnTo>
                  <a:pt x="435864" y="77285"/>
                </a:lnTo>
                <a:lnTo>
                  <a:pt x="455676" y="58760"/>
                </a:lnTo>
                <a:lnTo>
                  <a:pt x="475488" y="41887"/>
                </a:lnTo>
                <a:lnTo>
                  <a:pt x="495300" y="27223"/>
                </a:lnTo>
                <a:lnTo>
                  <a:pt x="515112" y="15283"/>
                </a:lnTo>
                <a:lnTo>
                  <a:pt x="534924" y="6525"/>
                </a:lnTo>
                <a:lnTo>
                  <a:pt x="554736" y="1332"/>
                </a:lnTo>
                <a:lnTo>
                  <a:pt x="574548" y="0"/>
                </a:lnTo>
                <a:lnTo>
                  <a:pt x="594360" y="2725"/>
                </a:lnTo>
                <a:lnTo>
                  <a:pt x="614172" y="14781"/>
                </a:lnTo>
                <a:lnTo>
                  <a:pt x="633984" y="29902"/>
                </a:lnTo>
                <a:lnTo>
                  <a:pt x="653796" y="47549"/>
                </a:lnTo>
                <a:lnTo>
                  <a:pt x="673608" y="67130"/>
                </a:lnTo>
                <a:lnTo>
                  <a:pt x="693420" y="88024"/>
                </a:lnTo>
                <a:lnTo>
                  <a:pt x="713232" y="109598"/>
                </a:lnTo>
                <a:lnTo>
                  <a:pt x="733044" y="131225"/>
                </a:lnTo>
                <a:lnTo>
                  <a:pt x="752856" y="152301"/>
                </a:lnTo>
                <a:lnTo>
                  <a:pt x="772668" y="172259"/>
                </a:lnTo>
                <a:lnTo>
                  <a:pt x="792480" y="190589"/>
                </a:lnTo>
                <a:lnTo>
                  <a:pt x="812292" y="206843"/>
                </a:lnTo>
                <a:lnTo>
                  <a:pt x="832104" y="220651"/>
                </a:lnTo>
                <a:lnTo>
                  <a:pt x="851916" y="231723"/>
                </a:lnTo>
                <a:lnTo>
                  <a:pt x="871728" y="239860"/>
                </a:lnTo>
                <a:lnTo>
                  <a:pt x="891540" y="244948"/>
                </a:lnTo>
                <a:lnTo>
                  <a:pt x="911352" y="246967"/>
                </a:lnTo>
                <a:lnTo>
                  <a:pt x="931164" y="245981"/>
                </a:lnTo>
                <a:lnTo>
                  <a:pt x="950976" y="242133"/>
                </a:lnTo>
                <a:lnTo>
                  <a:pt x="970788" y="235645"/>
                </a:lnTo>
                <a:lnTo>
                  <a:pt x="990600" y="226800"/>
                </a:lnTo>
                <a:lnTo>
                  <a:pt x="1010412" y="215937"/>
                </a:lnTo>
                <a:lnTo>
                  <a:pt x="1030224" y="203437"/>
                </a:lnTo>
                <a:lnTo>
                  <a:pt x="1050036" y="189713"/>
                </a:lnTo>
                <a:lnTo>
                  <a:pt x="1069848" y="175195"/>
                </a:lnTo>
                <a:lnTo>
                  <a:pt x="1089660" y="160318"/>
                </a:lnTo>
                <a:lnTo>
                  <a:pt x="1109472" y="145511"/>
                </a:lnTo>
                <a:lnTo>
                  <a:pt x="1129284" y="131183"/>
                </a:lnTo>
                <a:lnTo>
                  <a:pt x="1149096" y="117714"/>
                </a:lnTo>
                <a:lnTo>
                  <a:pt x="1168908" y="105446"/>
                </a:lnTo>
                <a:lnTo>
                  <a:pt x="1188720" y="94673"/>
                </a:lnTo>
              </a:path>
            </a:pathLst>
          </a:custGeom>
          <a:noFill/>
          <a:ln w="19050">
            <a:solidFill>
              <a:srgbClr val="7FA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ulmonology_0D3270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816352"/>
            <a:ext cx="274320" cy="2743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424160" y="277977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检测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0.1 – 0.5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87" name="Picture 86" descr="ecg_heart_0D3270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255264"/>
            <a:ext cx="274320" cy="274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424160" y="3218688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共存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0.8 – 2.0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4736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0" name="Picture 89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3835725"/>
            <a:ext cx="174101" cy="1741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577072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目标检测与视频业务共享同一波形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8174736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174736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4" name="Picture 93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338645"/>
            <a:ext cx="174101" cy="17410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7072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通信—感知共存是 ISAC 落地的前提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174736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174736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8" name="Picture 97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841565"/>
            <a:ext cx="174101" cy="174101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77072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同一波形承载通信与感知具有低成本优势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探索基于通信波形相干相位的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非接触微动感知方法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23697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0420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888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基于开源 OFDM-ISAC 平台的实时视频并发微动感知研究较少。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建立强编码 OFDM-ISAC 链路上“实时视频业务 + 感知共存”的跨层设计与实验方法体系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部分完成·外码待重测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通信与感知的共存机制及微动延伸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开 / 关视频业务的共存对照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payload / sensing_pilot 配比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共存折中曲线（延伸：微动）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700784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1：跨层优化与级联编码架构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7644383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37360"/>
            <a:ext cx="73883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级联编码与传输流程（发送端 → 无线信道 → 接收端）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57984"/>
            <a:ext cx="7644383" cy="2615184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69494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发送端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（编码与帧构建）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52144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235915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UDP Payload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0432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(N 字节)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724912"/>
            <a:ext cx="137160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1448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notes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7" y="235915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78024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9736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(Payload Length)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575303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30752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35915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67328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RS(255,K)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9039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864607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0055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wap_horiz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3591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56631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交织 /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38343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LDPC(1008,504)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153911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09359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5" name="Picture 44" descr="equalizer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35915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45936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帧映射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7647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(子载波/导频/CP)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441448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41448" y="3255264"/>
            <a:ext cx="2404872" cy="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46320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67128" y="3273552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长度前缀受 RS 保护（在同一个 RS 码字内）</a:t>
            </a:r>
            <a:endParaRPr sz="74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742432" y="3547617"/>
            <a:ext cx="2212848" cy="4754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 w="9525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cell_tower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3620769"/>
            <a:ext cx="310896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63056" y="3565906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无线信道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（多径/多普勒/噪声/干扰）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848856" y="3145536"/>
            <a:ext cx="0" cy="347345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5488" y="420624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接收端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（解码与还原）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152144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8" name="Picture 57" descr="waves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584" y="4315968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36192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解调 / 解交织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（OFDM 解调）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706624" y="4489704"/>
            <a:ext cx="182879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907791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2" name="Picture 6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9232" y="4315968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291839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 软译码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（LLR, 迭代译码）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4462271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3440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4315968"/>
            <a:ext cx="256032" cy="2560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7488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（纠错, 去除冗余）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6217919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419088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smart_display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7" y="4315968"/>
            <a:ext cx="256032" cy="2560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03136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载荷还原 / H.264 解码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（视频帧输出）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>
            <a:stCxn id="52" idx="1"/>
          </p:cNvCxnSpPr>
          <p:nvPr/>
        </p:nvCxnSpPr>
        <p:spPr>
          <a:xfrm flipH="1">
            <a:off x="1462913" y="3784981"/>
            <a:ext cx="4279265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63040" y="4151376"/>
            <a:ext cx="0" cy="5486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2913" y="3785362"/>
            <a:ext cx="0" cy="329565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11480" y="4882896"/>
            <a:ext cx="7644383" cy="694944"/>
          </a:xfrm>
          <a:prstGeom prst="roundRect">
            <a:avLst>
              <a:gd name="adj" fmla="val 10000"/>
            </a:avLst>
          </a:prstGeom>
          <a:solidFill>
            <a:srgbClr val="FEF5F4"/>
          </a:solidFill>
          <a:ln w="9525">
            <a:solidFill>
              <a:srgbClr val="E8B9B3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warning_C0392B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065776"/>
            <a:ext cx="329184" cy="32918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69264" y="4919472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无外码时的风险：</a:t>
            </a:r>
            <a:endParaRPr sz="84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69264" y="521208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无外码时，长度前缀裸露，单比特错误即可导致字节流错位，使后续 NAL 单元解析失败，造成持续性的大面积视频花屏。</a:t>
            </a:r>
            <a:endParaRPr sz="72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977639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30682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0682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636007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7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96519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6519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40480" y="52486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字节长度前缀（裸露）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39" y="543153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单比特错误</a:t>
            </a:r>
            <a:endParaRPr sz="6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5230368" y="5157216"/>
            <a:ext cx="402336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5760720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0720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8990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BE3E1"/>
          </a:solidFill>
          <a:ln w="6350">
            <a:solidFill>
              <a:srgbClr val="E8B9B3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8990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E8</a:t>
            </a:r>
            <a:endParaRPr sz="72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19088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19088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674827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827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69280" y="524865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 → 字节流错位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9" name="Connector 98"/>
          <p:cNvCxnSpPr/>
          <p:nvPr/>
        </p:nvCxnSpPr>
        <p:spPr>
          <a:xfrm flipH="1">
            <a:off x="5797296" y="4992624"/>
            <a:ext cx="18288" cy="27432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11312" y="1737360"/>
            <a:ext cx="3566160" cy="38587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211312" y="1737360"/>
            <a:ext cx="3566160" cy="402336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75904" y="1737360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当前进展与修正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8321040" y="2231136"/>
            <a:ext cx="3346704" cy="71323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80" y="232257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5" name="Picture 104" descr="bar_chart_3A6C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968" y="2340864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217152" y="2286000"/>
            <a:ext cx="241401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 已完成实测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在不同码率与信道条件下，获得 γ 的实测曲线与统计范围。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321040" y="3035808"/>
            <a:ext cx="3346704" cy="89611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12480" y="3127248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08" descr="schedule_3A6CA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7968" y="3145536"/>
            <a:ext cx="256032" cy="25603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217152" y="3090672"/>
            <a:ext cx="241401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队列优化后端到端时延约 250 ms，且无累积趋势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通过发送端队列管理与帧级调度，端到端时延稳定在约 250 ms，长时运行无明显累积。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8321040" y="4023360"/>
            <a:ext cx="3346704" cy="768096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12480" y="4114800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3" name="Picture 112" descr="settings_3A6CA8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7968" y="4133088"/>
            <a:ext cx="256032" cy="25603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9217152" y="4078224"/>
            <a:ext cx="241401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参数边界已获得阶段结果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完成关键参数组合的可行域与性能边界评估，得到初步的推荐范围。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4882896"/>
            <a:ext cx="3346704" cy="987551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412480" y="497433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7" name="Picture 116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992624"/>
            <a:ext cx="256032" cy="25603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217152" y="4937760"/>
            <a:ext cx="241401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 RS Pareto 结论因实现缺陷撤回，外码作用边界待重测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发现早期实验存在实现缺陷，原先关于 RS 的 Pareto 结论不再成立，外码何时开始作用及其激活边界有待重新测量与分析。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30352" y="5715000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1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1：容器误码放大因子与分帧完整性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6355080" cy="3364992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1737360"/>
            <a:ext cx="635508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bar_char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1051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544" y="1737360"/>
            <a:ext cx="57515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不同传输栈下的容器误码放大因子 γ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" y="2157984"/>
            <a:ext cx="6080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Measured Container Error Amplification Factor under Different Stacks</a:t>
            </a:r>
            <a:endParaRPr sz="76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67128" y="2468879"/>
            <a:ext cx="0" cy="146304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47088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617976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7936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068824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48784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519672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9632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1,000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" y="2532887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VLC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67128" y="2560320"/>
            <a:ext cx="3915795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7787" y="25146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500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496" y="2880359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67128" y="2907791"/>
            <a:ext cx="315717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9169" y="2862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150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" y="3227831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67128" y="3255263"/>
            <a:ext cx="1310246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2238" y="32095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8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9496" y="3575303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GStreamer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67128" y="3602736"/>
            <a:ext cx="87349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5489" y="355701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4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74520" y="4096511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γ（倍）  /  Container Error Amplification Factor γ (×)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39496" y="4407408"/>
            <a:ext cx="6099048" cy="603504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42569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等容器封装在误码条件下显著放大视频错误，γ 可达百倍量级。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" y="460857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采用裸流（H.264 Annex B）传输可显著降低容器误码放大效应。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0936" y="479145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不同解码器的误码鲁棒性存在差异，GStreamer 的容错能力优于 ffplay。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173736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173736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81051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173736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239572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241401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239572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241401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239572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241401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217627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230428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34381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327355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28529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3438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327355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307238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307238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1：队列优化、参数边界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45920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00784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00784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  端到端时延测试结果（5 分钟）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03120"/>
            <a:ext cx="7040880" cy="23957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785615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3785615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89888" y="373075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解码端时延占比约 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89888" y="4023359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时延主要由视频解码（H.264 解码与显示）引入，发送、传输及接收处理时延占比较小。</a:t>
            </a:r>
            <a:endParaRPr sz="96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  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148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2763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1907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1907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907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1907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907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790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21284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1518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9806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9806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9806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518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363931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0390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8056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4398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85216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6305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2648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644383" y="1700784"/>
            <a:ext cx="4133087" cy="41148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44383" y="1700784"/>
            <a:ext cx="4133087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08975" y="1700784"/>
            <a:ext cx="3877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  关键参数与阶段性结果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754111" y="223113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45552" y="235915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0" name="Picture 59" descr="bar_chart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95728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778240" y="232257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1200 kbps / GOP 30 综合最优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在当前实验条件下，1200 kbps 码率与 GOP = 30 可在视频质量、时延与稳定性之间取得最佳平衡。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754111" y="341985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45552" y="354787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584448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78240" y="351129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CP = 128 为室内最小可行保护间隔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在室内静态场景下，CP = 128 可满足 OFDM 系统的可靠传输要求，进一步减小 CP 会导致误码率明显上升。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754111" y="460857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45552" y="473659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cell_tower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773168"/>
            <a:ext cx="310896" cy="31089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778240" y="470001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16QAM 在 B210 上受 CPU 限制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USRP B210 平台上，16QAM 调制方式受限于主机 CPU 处理能力，实时传输时易出现处理瓶颈，稳定性不足。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6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32688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试验手段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1591056"/>
            <a:ext cx="3476625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4210" y="1609090"/>
            <a:ext cx="7669530" cy="40005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9470" y="1609090"/>
            <a:ext cx="740283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试验手段 / Experimental Means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14880" y="2053590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11120" y="2127885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硬件平台与试验场景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Hardware Platform &amp; Test Scenario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85" y="2505710"/>
            <a:ext cx="685800" cy="5327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6885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上位机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（视频源 / 控制）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63392" y="2724912"/>
            <a:ext cx="323215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4325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cam_n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635" y="2523490"/>
            <a:ext cx="12192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16630" y="2944495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N320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发射端)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875276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am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377440"/>
            <a:ext cx="116205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3335" y="3035935"/>
            <a:ext cx="1200150" cy="4197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室内视距 (LOS)</a:t>
            </a:r>
            <a:endParaRPr sz="6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距离约 5 m  /  fc = 3.1 GHz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356604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cam_b2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40" y="2541905"/>
            <a:ext cx="1181100" cy="342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54470" y="2944495"/>
            <a:ext cx="1257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B210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接收端)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837932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4352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005" y="2505710"/>
            <a:ext cx="685800" cy="5327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2957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数据采集与处理</a:t>
            </a:r>
            <a:endParaRPr sz="6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（显示 / 记录）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14880" y="3443605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1120" y="3517900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波形与协议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Waveform &amp; Protocol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25933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equalizer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640" y="3842385"/>
            <a:ext cx="212090" cy="2120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2415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基本参数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4315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FFT 点数：1024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4315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循环前缀：128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4315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符号数：100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4315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信号带宽：50 MHz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4315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调制方式：QPSK / 16QAM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3677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movie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080" y="3842385"/>
            <a:ext cx="212090" cy="21209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0159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视频编码与传输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059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编码标准：H.264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2059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分辨率：640 × 480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2059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帧率：20 fps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2059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传输框架：GStreamer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2059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传输封装：RTP/UDP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1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520" y="3842385"/>
            <a:ext cx="212090" cy="21209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7903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系统协议与配置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9803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OFDM-ISAC 一体化帧结构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9803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载荷映射：数据 + 导频 + 保护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9803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时频资源统一配置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803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支持实时参数动态调整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9803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收发端时间同步与记录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现有研究工作基础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57276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同步运行微动感知处理与结果输出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230428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共存对照与微动延伸实验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0352" y="5477256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08" name="Picture 107" descr="target_1F5F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" y="5543092"/>
            <a:ext cx="234086" cy="234086"/>
          </a:xfrm>
          <a:prstGeom prst="rect">
            <a:avLst/>
          </a:prstGeom>
        </p:spPr>
      </p:pic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3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896112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可能困难、问题及对策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微弱信号检测风险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57784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ecg_heart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6" y="2659440"/>
            <a:ext cx="204094" cy="2040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4984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人体微动的心跳相位变化幅度极小，信号易被噪声及静态杂波淹没。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14984" y="3017520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6072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6" y="3153216"/>
            <a:ext cx="204094" cy="2040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984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SDR 硬件的相位噪声可能限制微动特征的有效提取。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14984" y="3511296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76072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track_change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6" y="3646992"/>
            <a:ext cx="204094" cy="2040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4984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 C → B → A 的分阶段递进目标，从粗到精降低研究风险。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06824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3128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8344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在线切换稳定性风险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453128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471416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60" y="2659440"/>
            <a:ext cx="204094" cy="2040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10328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感知/通信参数的动态切换可能影响 OFDM 帧同步和视频帧结构稳定性。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910328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471416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7" name="Picture 46" descr="hub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60" y="3153216"/>
            <a:ext cx="204094" cy="2040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10328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OFDM 帧边界与 GOP 边界处限制切换，避免中途切换带来的异常。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910328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471416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ync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60" y="3646992"/>
            <a:ext cx="204094" cy="2040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10328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预置回退配置，在切换异常时能够快速恢复至稳定工作状态。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02167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8471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933688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双功能资源冲突与环境不确定性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48471" y="2505456"/>
            <a:ext cx="3456432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366759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9" name="Picture 58" descr="database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304" y="2659440"/>
            <a:ext cx="204094" cy="20409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05672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较长的感知观测窗可能与视频实时传输的低时延需求产生资源竞争。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805672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366759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304" y="3153216"/>
            <a:ext cx="204094" cy="2040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05672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量化感知与通信的兼容工作区域，评估不同配置下的性能权衡。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805672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366759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7" name="Picture 66" descr="fact_check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304" y="3646992"/>
            <a:ext cx="204094" cy="20409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805672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通过可控的重复实验与环境记录，分析不同场景（室内/室外/移动）的影响。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11480" y="4261104"/>
            <a:ext cx="11368735" cy="1243584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" y="4389120"/>
            <a:ext cx="384048" cy="384048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description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321" y="4462089"/>
            <a:ext cx="238109" cy="23810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05840" y="4426077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研究总结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endParaRPr sz="16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2615184" y="4407408"/>
            <a:ext cx="0" cy="950976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761488" y="4425696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090672" y="4407408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本研究基于真实的开源 OFDM-ISAC 平台开展，具有可复现的实验基础和实际验证条件。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2761488" y="4773168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090672" y="4754880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已取得初步的基线数据与阶段性结果，研究内容 2 和 3 的方案与技术路线已明确，后续将按计划推进。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2761488" y="5120640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90672" y="5102352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本研究既具有工程应用价值（多功能融合、实时性），也具有一定的学术创新性（跨层优化、微动感知与视频传输协同设计）。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5550</Words>
  <Application>WPS 演示</Application>
  <PresentationFormat>On-screen Show (4:3)</PresentationFormat>
  <Paragraphs>792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5</cp:revision>
  <dcterms:created xsi:type="dcterms:W3CDTF">2013-01-27T09:14:00Z</dcterms:created>
  <dcterms:modified xsi:type="dcterms:W3CDTF">2026-10-21T03:09:10Z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