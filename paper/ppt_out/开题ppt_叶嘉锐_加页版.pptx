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9" r:id="rId6"/>
    <p:sldId id="280" r:id="rId7"/>
    <p:sldId id="281" r:id="rId8"/>
    <p:sldId id="259" r:id="rId9"/>
    <p:sldId id="260" r:id="rId10"/>
    <p:sldId id="262" r:id="rId11"/>
    <p:sldId id="288" r:id="rId12"/>
    <p:sldId id="282" r:id="rId13"/>
    <p:sldId id="285" r:id="rId14"/>
    <p:sldId id="286" r:id="rId15"/>
    <p:sldId id="287" r:id="rId16"/>
    <p:sldId id="283" r:id="rId17"/>
    <p:sldId id="284" r:id="rId18"/>
    <p:sldId id="264" r:id="rId19"/>
    <p:sldId id="275" r:id="rId20"/>
    <p:sldId id="289" r:id="rId21"/>
    <p:sldId id="276" r:id="rId22"/>
    <p:sldId id="278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8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28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23.pn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6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8.png"/><Relationship Id="rId10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2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485" y="2429510"/>
            <a:ext cx="11652250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3200" b="1" i="0" spc="200">
              <a:solidFill>
                <a:schemeClr val="tx2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64100" y="4388485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97" y="4456882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66436" y="440677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791075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859472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80936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6809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0645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841603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1042771" y="4498721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1042771" y="4498721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1774291" y="4526153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1920875" y="4636135"/>
            <a:ext cx="1699260" cy="310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" name="Rounded Rectangle 40"/>
          <p:cNvSpPr/>
          <p:nvPr>
            <p:custDataLst>
              <p:tags r:id="rId28"/>
            </p:custDataLst>
          </p:nvPr>
        </p:nvSpPr>
        <p:spPr>
          <a:xfrm>
            <a:off x="6401028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44"/>
          <p:cNvSpPr txBox="1"/>
          <p:nvPr>
            <p:custDataLst>
              <p:tags r:id="rId29"/>
            </p:custDataLst>
          </p:nvPr>
        </p:nvSpPr>
        <p:spPr>
          <a:xfrm>
            <a:off x="7480020" y="4645025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年度计划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TextBox 37"/>
          <p:cNvSpPr txBox="1"/>
          <p:nvPr>
            <p:custDataLst>
              <p:tags r:id="rId30"/>
            </p:custDataLst>
          </p:nvPr>
        </p:nvSpPr>
        <p:spPr>
          <a:xfrm>
            <a:off x="6601968" y="449897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06</a:t>
            </a:r>
            <a:endParaRPr lang="en-US"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52" name="Connector 38"/>
          <p:cNvCxnSpPr/>
          <p:nvPr>
            <p:custDataLst>
              <p:tags r:id="rId31"/>
            </p:custDataLst>
          </p:nvPr>
        </p:nvCxnSpPr>
        <p:spPr>
          <a:xfrm>
            <a:off x="7398893" y="455371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研究背景（一）：6G 与通感一体化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ISAC 是 6G 的六大场景之一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ITU-R M.2160 明确将通感一体化列为 6G 关键使用场景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通信与感知共享同一套资源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硬件、频谱与 OFDM 波形三者共享，感知成为空口原生能力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面向海事与工业的真实需求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智慧港口、智慧交通、远海监测与健康监护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研究背景（二）：实时视频业务的挑战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持续高吞吐、低时延、无累积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端到端时延必须有界，且长时间运行不随时间增长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H.264 对残留误码极度敏感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单个误码宏块沿帧间预测传播，直到下一个 I 帧才恢复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误差与上层选型强耦合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物理层残留误码会被容器、解码器、缓冲队列逐级放大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研究背景（三）：感知共存的需求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同一波形承载通信与感知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这是 ISAC 落地的前提，也是本课题的实验形态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资源上直接竞争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视频占用的时频资源，与感知的相参与导频需求冲突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共存代价缺少实测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现有平台多评“纯通信”或“纯感知”，并发代价尚无系统测量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研究通信业务与感知功能的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共存机制与资源折中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65734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62077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研究空白：同一波形上视频业务与感知并发的代价，缺少实测刻画。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感知共存”的跨层设计与实验方法体系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通信与感知的共存机制及微动延伸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 / 关视频业务的共存对照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payload / sensing_pilot 配比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共存折中曲线（延伸：微动）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研究内容（一）：跨层基线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>
            <p:custDataLst>
              <p:tags r:id="rId3"/>
            </p:custDataLst>
          </p:nvPr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>
            <p:custDataLst>
              <p:tags r:id="rId4"/>
            </p:custDataLst>
          </p:nvPr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容器误码放大因子 γ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>
            <p:custDataLst>
              <p:tags r:id="rId5"/>
            </p:custDataLst>
          </p:nvPr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MPEG-TS 与裸流、三种解码器栈，在同一误码源下对比实测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>
            <p:custDataLst>
              <p:tags r:id="rId6"/>
            </p:custDataLst>
          </p:nvPr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>
            <p:custDataLst>
              <p:tags r:id="rId7"/>
            </p:custDataLst>
          </p:nvPr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队列整形与时延消除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>
            <p:custDataLst>
              <p:tags r:id="rId8"/>
            </p:custDataLst>
          </p:nvPr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四级队列由 32 帧压到 4–8 帧，阻塞写改为非阻塞丢弃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>
            <p:custDataLst>
              <p:tags r:id="rId9"/>
            </p:custDataLst>
          </p:nvPr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>
            <p:custDataLst>
              <p:tags r:id="rId10"/>
            </p:custDataLst>
          </p:nvPr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参数边界扫描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>
            <p:custDataLst>
              <p:tags r:id="rId11"/>
            </p:custDataLst>
          </p:nvPr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调制、码率、GOP 与循环前缀的可行域与性能边界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级联编码：外码在内码之外，长度前缀在</a:t>
            </a:r>
            <a:r>
              <a:rPr lang="en-US" sz="3200" b="1">
                <a:solidFill>
                  <a:srgbClr val="1F3864"/>
                </a:solidFill>
                <a:latin typeface="微软雅黑" panose="020B0503020204020204" charset="-122"/>
              </a:rPr>
              <a:t>RS</a:t>
            </a: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码字之内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822960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UDP 载荷
H.264 裸流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5" name="Right Arrow 124"/>
          <p:cNvSpPr/>
          <p:nvPr/>
        </p:nvSpPr>
        <p:spPr>
          <a:xfrm>
            <a:off x="2679191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980944" y="2011680"/>
            <a:ext cx="1847088" cy="1051560"/>
          </a:xfrm>
          <a:prstGeom prst="roundRect">
            <a:avLst/>
          </a:prstGeom>
          <a:solidFill>
            <a:srgbClr val="DCE6F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RS(255,K)
外码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4837175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138928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LDPC(1008,504)
内码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9" name="Right Arrow 128"/>
          <p:cNvSpPr/>
          <p:nvPr/>
        </p:nvSpPr>
        <p:spPr>
          <a:xfrm>
            <a:off x="6995160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296912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OFDM 帧映射
1024-FFT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1" name="Right Arrow 130"/>
          <p:cNvSpPr/>
          <p:nvPr/>
        </p:nvSpPr>
        <p:spPr>
          <a:xfrm>
            <a:off x="9153144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454896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空口发送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41248" y="3493008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78865" y="3465830"/>
            <a:ext cx="8114665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2 字节长度前缀位于 RS 码字内部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它是接收端切分 </a:t>
            </a:r>
            <a:r>
              <a:rPr lang="en-US" altLang="zh-CN" sz="1900" b="1" i="0">
                <a:solidFill>
                  <a:srgbClr val="1F3864"/>
                </a:solidFill>
                <a:latin typeface="微软雅黑" panose="020B0503020204020204" charset="-122"/>
              </a:rPr>
              <a:t>UDP 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载荷的唯一依据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41248" y="4096511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78865" y="4075430"/>
            <a:ext cx="9300210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无外码时前缀裸露</a:t>
            </a:r>
            <a:r>
              <a:rPr lang="en-US" sz="1900" b="1" i="0">
                <a:solidFill>
                  <a:srgbClr val="1F3864"/>
                </a:solidFill>
                <a:latin typeface="微软雅黑" panose="020B0503020204020204" charset="-122"/>
              </a:rPr>
              <a:t>,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一处比特错误足以让整条字节流错位，而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非只坏一个包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41248" y="4700016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078865" y="4672330"/>
            <a:ext cx="689292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外码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在稳态环境下的实际功能为</a:t>
            </a:r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分帧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，而非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纠错</a:t>
            </a:r>
            <a:endParaRPr lang="zh-CN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457962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457962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46527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457962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523798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525627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523798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525627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523798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525627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501853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514654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514654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514654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628040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611581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569518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628040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611581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591464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591464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同一误码流，容器与解码器让失效差两个数量级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78308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VLC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703320" y="1828800"/>
            <a:ext cx="4892040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05087" y="1801368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500×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2496312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3703320" y="2542032"/>
            <a:ext cx="3944291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57339" y="2514600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150×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68680" y="32095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703320" y="3255264"/>
            <a:ext cx="1636903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49951" y="3227832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8×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68680" y="392277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GStreamer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3703320" y="3968496"/>
            <a:ext cx="1091268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04316" y="3941063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4×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703320" y="435254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微软雅黑" panose="020B0503020204020204" charset="-122"/>
              </a:rPr>
              <a:t>容器放大因子 γ（对数刻度）</a:t>
            </a:r>
            <a:endParaRPr sz="1400" b="0" i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68680" y="45537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TS 的同步字节与连续性计数器一旦失锁，解码器整段丢弃；裸流按 NAL 起始码逐帧重新同步。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队列整形：把无界的时延累积变成有界丢帧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868680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250 ms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端到端时延，无累积趋势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4453128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80%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来自 H.264 解码环节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037575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32 → 4–8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队列深度（帧）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3703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问题：解码器一卡，UDP 缓冲堆积 → 发射端反压 → 队列更深，形成正反馈。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68680" y="4133087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对策：队列压到维持连续处理的最小值，阻塞写改为满则丢弃（try_push）。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964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423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3964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851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5579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4723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4723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4723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4723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4723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4723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606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654100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4334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12622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2622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2622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334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796747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3206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80872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872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7214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18032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49121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9121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45464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研究内容（二）：激活点与自适应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受控衰减扫描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0–20 dB 衰减下，同步记录四档外码的纠错与不可纠事件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激活点刻画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给出 SNR–纠错事件率曲线，确定外码真正开始起作用的区段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在线映射与热切换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SNR 与残差统计量映射到码率档位，切换限定在 GOP 与帧边界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研究内容（三）：共存机制与微动延伸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共存对照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开/关视频业务两种条件下，测检测概率、距离误差与虚警率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资源配比扫描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payload 与 sensing_pilot 配比 2–3 档，给出吞吐—检测折中曲线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延伸目标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共存基线成立后，用导频相位提取呼吸心率，条件性推进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</a:t>
            </a:r>
            <a:r>
              <a:rPr lang="zh-CN"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总结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同步运行感知处理与结果显示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74320"/>
            <a:ext cx="10637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上海海事大学</a:t>
            </a:r>
            <a:endParaRPr sz="1000" b="0">
              <a:solidFill>
                <a:srgbClr val="6E6E6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>
                <a:solidFill>
                  <a:srgbClr val="6E6E6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面向实时视频业务的 OFDM-ISAC｜跨层传输与感知共存研究</a:t>
            </a:r>
            <a:endParaRPr sz="1000" b="0">
              <a:solidFill>
                <a:srgbClr val="6E6E6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核心工作与阶段性结论</a:t>
            </a:r>
            <a:endParaRPr sz="2600" b="1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100584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1389888"/>
            <a:ext cx="94484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6E6E6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从「跑通」到「定位」：四件可以写进论文的事</a:t>
            </a:r>
            <a:endParaRPr sz="1200" b="0">
              <a:solidFill>
                <a:srgbClr val="6E6E6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508427" cy="3246120"/>
          </a:xfrm>
          <a:prstGeom prst="roundRect">
            <a:avLst>
              <a:gd name="adj" fmla="val 6000"/>
            </a:avLst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106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210609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50" b="1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实时视频业务试验床</a:t>
            </a:r>
            <a:endParaRPr sz="1450" b="1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408" y="3054096"/>
            <a:ext cx="4572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218688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摄像头采集 → H.264 → 裸流 → ISAC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" y="380390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803904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与平台示例（文件推流）三处不同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8408" y="4389120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端到端时延测量与逐层分解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86835" y="1828800"/>
            <a:ext cx="2508427" cy="3246120"/>
          </a:xfrm>
          <a:prstGeom prst="roundRect">
            <a:avLst>
              <a:gd name="adj" fmla="val 6000"/>
            </a:avLst>
          </a:prstGeom>
          <a:solidFill>
            <a:srgbClr val="F6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8003" y="2011680"/>
            <a:ext cx="2106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B5533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b="1">
              <a:solidFill>
                <a:srgbClr val="B5533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88003" y="2304288"/>
            <a:ext cx="210609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50" b="1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分帧元数据的单点故障</a:t>
            </a:r>
            <a:endParaRPr sz="1450" b="1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88003" y="3054096"/>
            <a:ext cx="457200" cy="27432"/>
          </a:xfrm>
          <a:prstGeom prst="rect">
            <a:avLst/>
          </a:prstGeom>
          <a:solidFill>
            <a:srgbClr val="B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8003" y="3218688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B5533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B5533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52595" y="3218688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 字节长度前缀位于 RS 码字内部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88003" y="380390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B5533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B5533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52595" y="3803904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前缀裸露时单比特错误即整流失步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88003" y="4389120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B5533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B5533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52595" y="4389120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外码稳态功能是分帧，非纠错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96431" y="1828800"/>
            <a:ext cx="2508427" cy="3246120"/>
          </a:xfrm>
          <a:prstGeom prst="roundRect">
            <a:avLst>
              <a:gd name="adj" fmla="val 6000"/>
            </a:avLst>
          </a:prstGeom>
          <a:solidFill>
            <a:srgbClr val="DC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7599" y="2011680"/>
            <a:ext cx="2106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7599" y="2304288"/>
            <a:ext cx="210609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50" b="1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容器与解码器的放大</a:t>
            </a:r>
            <a:endParaRPr sz="1450" b="1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397599" y="3054096"/>
            <a:ext cx="457200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7599" y="3218688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2191" y="3218688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同一误码流，四栈对比实测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97599" y="380390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62191" y="3803904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MPEG-TS+VLC ≈500× vs 裸流+GStreamer ≈4×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97599" y="4389120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62191" y="4389120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γ = γ_header × γ_state 双因子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906027" y="1828800"/>
            <a:ext cx="2508427" cy="3246120"/>
          </a:xfrm>
          <a:prstGeom prst="roundRect">
            <a:avLst>
              <a:gd name="adj" fmla="val 6000"/>
            </a:avLst>
          </a:prstGeom>
          <a:solidFill>
            <a:srgbClr val="E4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195" y="2011680"/>
            <a:ext cx="21060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4C7A5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00" b="1">
              <a:solidFill>
                <a:srgbClr val="4C7A5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07195" y="2304288"/>
            <a:ext cx="210609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50" b="1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缓冲策略与时延</a:t>
            </a:r>
            <a:endParaRPr sz="1450" b="1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07195" y="3054096"/>
            <a:ext cx="457200" cy="27432"/>
          </a:xfrm>
          <a:prstGeom prst="rect">
            <a:avLst/>
          </a:prstGeom>
          <a:solidFill>
            <a:srgbClr val="4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07195" y="3218688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C7A5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4C7A5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71787" y="3218688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四级队列 32 → 4–8 帧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107195" y="3803904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C7A5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4C7A5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71787" y="3803904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阻塞写改为满则丢弃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107195" y="4389120"/>
            <a:ext cx="1280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1">
                <a:solidFill>
                  <a:srgbClr val="4C7A5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400" b="1">
              <a:solidFill>
                <a:srgbClr val="4C7A5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71787" y="4389120"/>
            <a:ext cx="19414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1A1A1A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250 ms 量级，无累积趋势</a:t>
            </a:r>
            <a:endParaRPr sz="1050" b="0">
              <a:solidFill>
                <a:srgbClr val="1A1A1A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77240" y="5285232"/>
            <a:ext cx="10637215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413248"/>
            <a:ext cx="106372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50" b="0">
                <a:solidFill>
                  <a:srgbClr val="6E6E6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方法学：测量链本身也需要被校验——外码实现的三处缺陷正是在自检中被定位，相关结论随之撤回并进入重测。</a:t>
            </a:r>
            <a:endParaRPr sz="1150" b="0">
              <a:solidFill>
                <a:srgbClr val="6E6E6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7240" y="589788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>
                <a:solidFill>
                  <a:srgbClr val="1F4E79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四件事都不依赖感知算法的开发，均为通信侧的系统级实测。</a:t>
            </a:r>
            <a:endParaRPr sz="1300" b="1">
              <a:solidFill>
                <a:srgbClr val="1F4E79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500055" y="644652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900" b="0">
                <a:solidFill>
                  <a:srgbClr val="6E6E6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6E6E6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共存对照与微动延伸实验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0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1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2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3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4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5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6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7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8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5158</Words>
  <Application>WPS 演示</Application>
  <PresentationFormat>On-screen Show (4:3)</PresentationFormat>
  <Paragraphs>800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10</cp:revision>
  <dcterms:created xsi:type="dcterms:W3CDTF">2013-01-27T09:14:00Z</dcterms:created>
  <dcterms:modified xsi:type="dcterms:W3CDTF">2026-10-23T15:59:00Z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