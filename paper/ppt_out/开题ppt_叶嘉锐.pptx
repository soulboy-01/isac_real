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9" r:id="rId6"/>
    <p:sldId id="280" r:id="rId7"/>
    <p:sldId id="281" r:id="rId8"/>
    <p:sldId id="259" r:id="rId9"/>
    <p:sldId id="260" r:id="rId10"/>
    <p:sldId id="262" r:id="rId11"/>
    <p:sldId id="288" r:id="rId12"/>
    <p:sldId id="282" r:id="rId13"/>
    <p:sldId id="285" r:id="rId14"/>
    <p:sldId id="286" r:id="rId15"/>
    <p:sldId id="287" r:id="rId16"/>
    <p:sldId id="283" r:id="rId17"/>
    <p:sldId id="284" r:id="rId18"/>
    <p:sldId id="264" r:id="rId19"/>
    <p:sldId id="275" r:id="rId20"/>
    <p:sldId id="276" r:id="rId21"/>
    <p:sldId id="278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6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56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现有基础分三块：平台与链路方面，OpenISAC 平台部署完成，N320 + B210 空口链路搭建完成，实时视频与感知可以并行运行（1080p、30 fps）。初步结果包括不同 γ 值下的距离-时间图、端到端时延曲线（约 250 ms 稳定）以及调制方式、GOP、CP 的对比实验。论文方面已完成研究内容 1 的英文初稿，RS 外码章节待重测后补充。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年度计划分四个阶段：2025.09-2026.06 课程学习与平台熟悉；2026.07-2026.09 完成研究内容 1 并撰写英文初稿；2026.09-2026.12 启动研究内容 2 并接受中期检查；2027.01-2028.06 完成研究内容 2/3 与论文答辩。预期成果包括硕士学位论文、1-2 篇英文论文、可复现脚本与数据集、开源方法体系；量化目标分别覆盖时延与 BER、切换失同步率与图像完整性、呼吸与心跳估计精度。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29.xml"/><Relationship Id="rId30" Type="http://schemas.openxmlformats.org/officeDocument/2006/relationships/tags" Target="../tags/tag28.xml"/><Relationship Id="rId3" Type="http://schemas.openxmlformats.org/officeDocument/2006/relationships/tags" Target="../tags/tag2.xml"/><Relationship Id="rId29" Type="http://schemas.openxmlformats.org/officeDocument/2006/relationships/tags" Target="../tags/tag27.xml"/><Relationship Id="rId28" Type="http://schemas.openxmlformats.org/officeDocument/2006/relationships/tags" Target="../tags/tag26.xml"/><Relationship Id="rId27" Type="http://schemas.openxmlformats.org/officeDocument/2006/relationships/image" Target="../media/image2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.png"/><Relationship Id="rId20" Type="http://schemas.openxmlformats.org/officeDocument/2006/relationships/image" Target="../media/image23.png"/><Relationship Id="rId2" Type="http://schemas.openxmlformats.org/officeDocument/2006/relationships/image" Target="../media/image5.png"/><Relationship Id="rId19" Type="http://schemas.openxmlformats.org/officeDocument/2006/relationships/image" Target="../media/image22.png"/><Relationship Id="rId18" Type="http://schemas.openxmlformats.org/officeDocument/2006/relationships/image" Target="../media/image21.png"/><Relationship Id="rId17" Type="http://schemas.openxmlformats.org/officeDocument/2006/relationships/image" Target="../media/image20.png"/><Relationship Id="rId16" Type="http://schemas.openxmlformats.org/officeDocument/2006/relationships/image" Target="../media/image19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6.png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13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8.png"/><Relationship Id="rId10" Type="http://schemas.openxmlformats.org/officeDocument/2006/relationships/image" Target="../media/image3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png"/><Relationship Id="rId8" Type="http://schemas.openxmlformats.org/officeDocument/2006/relationships/image" Target="../media/image43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2.png"/><Relationship Id="rId4" Type="http://schemas.openxmlformats.org/officeDocument/2006/relationships/image" Target="../media/image47.png"/><Relationship Id="rId3" Type="http://schemas.openxmlformats.org/officeDocument/2006/relationships/image" Target="../media/image46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pn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1481328" y="329184"/>
            <a:ext cx="0" cy="585216"/>
          </a:xfrm>
          <a:prstGeom prst="line">
            <a:avLst/>
          </a:prstGeom>
          <a:ln w="12700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18719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2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4485" y="2429510"/>
            <a:ext cx="11652250" cy="6769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3200" b="1" i="0" spc="200">
                <a:solidFill>
                  <a:schemeClr val="tx2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面向实时视频业务的 </a:t>
            </a:r>
            <a:r>
              <a:rPr lang="en-US" altLang="zh-CN" sz="3200" b="1" i="0" spc="200">
                <a:solidFill>
                  <a:schemeClr val="tx2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OFDM-ISAC </a:t>
            </a:r>
            <a:r>
              <a:rPr lang="zh-CN" altLang="en-US" sz="3200" b="1" i="0" spc="200">
                <a:solidFill>
                  <a:schemeClr val="tx2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跨层传输与感知共存研究</a:t>
            </a:r>
            <a:endParaRPr lang="zh-CN" altLang="en-US" sz="3200" b="1" i="0" spc="200">
              <a:solidFill>
                <a:schemeClr val="tx2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319272"/>
            <a:ext cx="7528255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1799" y="3241548"/>
            <a:ext cx="768096" cy="6858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64100" y="4388485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1" name="Picture 20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497" y="4456882"/>
            <a:ext cx="174101" cy="1741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66436" y="4406773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答辩人：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叶嘉锐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64608" y="4791075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school_1F5F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05" y="4859472"/>
            <a:ext cx="174101" cy="174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4809363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学号：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202530310195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768096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06453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0" i="0" spc="6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目 录</a:t>
            </a:r>
            <a:endParaRPr sz="4400" b="0" i="0" spc="6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947007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7175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841248" y="1874393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3"/>
            </p:custDataLst>
          </p:nvPr>
        </p:nvSpPr>
        <p:spPr>
          <a:xfrm>
            <a:off x="1042416" y="2048129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1042416" y="2048129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01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5"/>
            </p:custDataLst>
          </p:nvPr>
        </p:nvCxnSpPr>
        <p:spPr>
          <a:xfrm>
            <a:off x="1773936" y="2075561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6"/>
            </p:custDataLst>
          </p:nvPr>
        </p:nvSpPr>
        <p:spPr>
          <a:xfrm>
            <a:off x="1920240" y="218554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研究背景及意义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>
            <p:custDataLst>
              <p:tags r:id="rId7"/>
            </p:custDataLst>
          </p:nvPr>
        </p:nvSpPr>
        <p:spPr>
          <a:xfrm>
            <a:off x="6400800" y="1874393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8"/>
            </p:custDataLst>
          </p:nvPr>
        </p:nvSpPr>
        <p:spPr>
          <a:xfrm>
            <a:off x="6601968" y="2048129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9"/>
            </p:custDataLst>
          </p:nvPr>
        </p:nvSpPr>
        <p:spPr>
          <a:xfrm>
            <a:off x="6601968" y="2048129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02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9" name="Connector 28"/>
          <p:cNvCxnSpPr/>
          <p:nvPr>
            <p:custDataLst>
              <p:tags r:id="rId10"/>
            </p:custDataLst>
          </p:nvPr>
        </p:nvCxnSpPr>
        <p:spPr>
          <a:xfrm>
            <a:off x="7333488" y="2075561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>
            <p:custDataLst>
              <p:tags r:id="rId11"/>
            </p:custDataLst>
          </p:nvPr>
        </p:nvSpPr>
        <p:spPr>
          <a:xfrm>
            <a:off x="7479792" y="218554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国内外研究现状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>
            <p:custDataLst>
              <p:tags r:id="rId12"/>
            </p:custDataLst>
          </p:nvPr>
        </p:nvSpPr>
        <p:spPr>
          <a:xfrm>
            <a:off x="841248" y="3099689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13"/>
            </p:custDataLst>
          </p:nvPr>
        </p:nvSpPr>
        <p:spPr>
          <a:xfrm>
            <a:off x="1042416" y="3273425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4"/>
            </p:custDataLst>
          </p:nvPr>
        </p:nvSpPr>
        <p:spPr>
          <a:xfrm>
            <a:off x="1042416" y="327342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4" name="Connector 33"/>
          <p:cNvCxnSpPr/>
          <p:nvPr>
            <p:custDataLst>
              <p:tags r:id="rId15"/>
            </p:custDataLst>
          </p:nvPr>
        </p:nvCxnSpPr>
        <p:spPr>
          <a:xfrm>
            <a:off x="1773936" y="3300857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>
            <p:custDataLst>
              <p:tags r:id="rId16"/>
            </p:custDataLst>
          </p:nvPr>
        </p:nvSpPr>
        <p:spPr>
          <a:xfrm>
            <a:off x="1920240" y="34108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研究内容与关键问题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>
            <p:custDataLst>
              <p:tags r:id="rId17"/>
            </p:custDataLst>
          </p:nvPr>
        </p:nvSpPr>
        <p:spPr>
          <a:xfrm>
            <a:off x="6400800" y="3099689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>
            <p:custDataLst>
              <p:tags r:id="rId18"/>
            </p:custDataLst>
          </p:nvPr>
        </p:nvSpPr>
        <p:spPr>
          <a:xfrm>
            <a:off x="6601968" y="3273425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19"/>
            </p:custDataLst>
          </p:nvPr>
        </p:nvSpPr>
        <p:spPr>
          <a:xfrm>
            <a:off x="6601968" y="327342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04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9" name="Connector 38"/>
          <p:cNvCxnSpPr/>
          <p:nvPr>
            <p:custDataLst>
              <p:tags r:id="rId20"/>
            </p:custDataLst>
          </p:nvPr>
        </p:nvCxnSpPr>
        <p:spPr>
          <a:xfrm>
            <a:off x="7333488" y="3300857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>
            <p:custDataLst>
              <p:tags r:id="rId21"/>
            </p:custDataLst>
          </p:nvPr>
        </p:nvSpPr>
        <p:spPr>
          <a:xfrm>
            <a:off x="7479792" y="34108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研究方法与技术路线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>
            <p:custDataLst>
              <p:tags r:id="rId22"/>
            </p:custDataLst>
          </p:nvPr>
        </p:nvSpPr>
        <p:spPr>
          <a:xfrm>
            <a:off x="841603" y="4324985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>
            <p:custDataLst>
              <p:tags r:id="rId23"/>
            </p:custDataLst>
          </p:nvPr>
        </p:nvSpPr>
        <p:spPr>
          <a:xfrm>
            <a:off x="1042771" y="4498721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>
            <p:custDataLst>
              <p:tags r:id="rId24"/>
            </p:custDataLst>
          </p:nvPr>
        </p:nvSpPr>
        <p:spPr>
          <a:xfrm>
            <a:off x="1042771" y="4498721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05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44" name="Connector 43"/>
          <p:cNvCxnSpPr/>
          <p:nvPr>
            <p:custDataLst>
              <p:tags r:id="rId25"/>
            </p:custDataLst>
          </p:nvPr>
        </p:nvCxnSpPr>
        <p:spPr>
          <a:xfrm>
            <a:off x="1774291" y="4526153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>
            <p:custDataLst>
              <p:tags r:id="rId26"/>
            </p:custDataLst>
          </p:nvPr>
        </p:nvSpPr>
        <p:spPr>
          <a:xfrm>
            <a:off x="1920875" y="4636135"/>
            <a:ext cx="1699260" cy="310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现有基础、进度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9" name="Picture 11" descr="logo.png"/>
          <p:cNvPicPr>
            <a:picLocks noChangeAspect="1"/>
          </p:cNvPicPr>
          <p:nvPr/>
        </p:nvPicPr>
        <p:blipFill>
          <a:blip r:embed="rId2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2" name="Rounded Rectangle 40"/>
          <p:cNvSpPr/>
          <p:nvPr>
            <p:custDataLst>
              <p:tags r:id="rId28"/>
            </p:custDataLst>
          </p:nvPr>
        </p:nvSpPr>
        <p:spPr>
          <a:xfrm>
            <a:off x="6401028" y="4324985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44"/>
          <p:cNvSpPr txBox="1"/>
          <p:nvPr>
            <p:custDataLst>
              <p:tags r:id="rId29"/>
            </p:custDataLst>
          </p:nvPr>
        </p:nvSpPr>
        <p:spPr>
          <a:xfrm>
            <a:off x="7480020" y="4645025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zh-CN"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年度计划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TextBox 37"/>
          <p:cNvSpPr txBox="1"/>
          <p:nvPr>
            <p:custDataLst>
              <p:tags r:id="rId30"/>
            </p:custDataLst>
          </p:nvPr>
        </p:nvSpPr>
        <p:spPr>
          <a:xfrm>
            <a:off x="6601968" y="4498975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06</a:t>
            </a:r>
            <a:endParaRPr lang="en-US"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52" name="Connector 38"/>
          <p:cNvCxnSpPr/>
          <p:nvPr>
            <p:custDataLst>
              <p:tags r:id="rId31"/>
            </p:custDataLst>
          </p:nvPr>
        </p:nvCxnSpPr>
        <p:spPr>
          <a:xfrm>
            <a:off x="7398893" y="455371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研究背景（一）：6G 与通感一体化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ISAC 是 6G 的六大场景之一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ITU-R M.2160 明确将通感一体化列为 6G 关键使用场景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通信与感知共享同一套资源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硬件、频谱与 OFDM 波形三者共享，感知成为空口原生能力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面向海事与工业的真实需求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智慧港口、智慧交通、远海监测与健康监护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研究背景（二）：实时视频业务的挑战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持续高吞吐、低时延、无累积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端到端时延必须有界，且长时间运行不随时间增长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H.264 对残留误码极度敏感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单个误码宏块沿帧间预测传播，直到下一个 I 帧才恢复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误差与上层选型强耦合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物理层残留误码会被容器、解码器、缓冲队列逐级放大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研究背景（三）：感知共存的需求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同一波形承载通信与感知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这是 ISAC 落地的前提，也是本课题的实验形态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资源上直接竞争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视频占用的时频资源，与感知的相参与导频需求冲突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共存代价缺少实测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现有平台多评“纯通信”或“纯感知”，并发代价尚无系统测量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05840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研究目的与研究意义</a:t>
            </a:r>
            <a:endParaRPr sz="34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792224"/>
            <a:ext cx="5358384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1792224"/>
            <a:ext cx="5358384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1792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研究目的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description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4144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83664" y="2395728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实时视频跨层优化方案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2999232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2" name="Picture 31" descr="insight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18104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83664" y="3072384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构建依据信道状态自适应调整的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可靠传输机制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675888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7" name="Picture 36" descr="ecg_heart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94759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83664" y="3749039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研究通信业务与感知功能的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共存机制与资源折中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44768" y="1792224"/>
            <a:ext cx="5577840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1792224"/>
            <a:ext cx="557784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1" name="Picture 40" descr="lightbulb_FFFFFF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8366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6831" y="1792224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研究意义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72783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school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46888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9983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理论意义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6" name="Picture 45" descr="inventory_2_4A7CB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5" y="279806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8271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补足连续媒体业务在真实 ISAC 链路上的端到端研究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8" name="Picture 47" descr="description_4A7CB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5" y="365734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8271" y="362077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提出面向视频业务的可复用跨层分析框架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6256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ettings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468880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63456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工程 / 应用意义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monitor_4A7CB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848" y="2798064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81744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全部基于开源 OpenISAC 平台实现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5" name="Picture 54" descr="handyman_4A7CB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3236976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744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可指导低成本 ISAC 原型系统部署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7" name="Picture 56" descr="group_4A7CB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3675887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1744" y="3639312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面向智慧健康监测等场景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9" name="Picture 58" descr="hub_2E5F9E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6384" y="4636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应用场景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783080" y="4773168"/>
            <a:ext cx="9933127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app_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6434" y="4919472"/>
            <a:ext cx="2116653" cy="768096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03504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5" name="Picture 64" descr="directions_boat_1F5FA8_35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313" y="5069433"/>
            <a:ext cx="212140" cy="2121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5216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智慧港口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5216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Port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15968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9" name="Picture 68" descr="app_resc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75202" y="4919472"/>
            <a:ext cx="2116653" cy="768096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4462272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person_search_1F5FA8_35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9081" y="5069433"/>
            <a:ext cx="212140" cy="2121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443983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应急搜救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43983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Emergency Rescue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174736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5" name="Picture 74" descr="app_hospit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3970" y="4919472"/>
            <a:ext cx="2116653" cy="768096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8321040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monitor_heart_1F5FA8_3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7849" y="5069433"/>
            <a:ext cx="212140" cy="212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02752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智慧健康监测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02752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Health Monitoring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2412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国内外研究现状总览</a:t>
            </a:r>
            <a:endParaRPr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平台与空口实验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ell_tower_4A7CB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245059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Sturm &amp; Wiesbeck 奠定 OFDM-ISAC 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OpenISAC、Brunner 等推进空口实验平台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3132368"/>
            <a:ext cx="190926" cy="1909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多聚焦感知精度与链路吞吐。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无线视频传输与跨层设计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4" name="Picture 33" descr="movie_4A7CB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48716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255600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包级 FEC、跨层优化、自适应流媒体、JSCC 等研究丰富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3132368"/>
            <a:ext cx="190926" cy="1909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457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通常假设物理层固定，缺少与可配置 ISAC 物理层联合设计。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级联信道编码与残留误码处理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3" name="Picture 42" descr="layers_4A7CB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34256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63040" y="429768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RS+内码为经典级联结构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63040" y="455371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外码强度传统上依赖最坏情况建模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8" name="Picture 4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4979456"/>
            <a:ext cx="190926" cy="1909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3385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场景下外码真实作用边界待实测刻画。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1792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人体感知与生命体征监测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ecg_heart_4A7CB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334256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23760" y="440309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毫米波雷达、Wi-Fi CSI、人体活动感知研究活跃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6422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4979456"/>
            <a:ext cx="190926" cy="1909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9457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研究空白：同一波形上视频业务与感知并发的代价，缺少实测刻画。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研究目标与总体研究内容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1773936"/>
            <a:ext cx="11240719" cy="859536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 w="12700">
            <a:solidFill>
              <a:srgbClr val="C2D6EC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DCE9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1F5F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033625"/>
            <a:ext cx="340156" cy="3401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5024" y="19202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总体目标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048256"/>
            <a:ext cx="0" cy="329184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2304" y="2011680"/>
            <a:ext cx="0" cy="402336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96896" y="1773936"/>
            <a:ext cx="877824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链路上“实时视频业务 + 感知共存”的跨层设计与实验方法体系</a:t>
            </a:r>
            <a:endParaRPr sz="15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488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实时视频传输的跨层优化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" y="3561405"/>
            <a:ext cx="174101" cy="174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容器误码放大因子建模与实测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8368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databas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401860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队列优化与时延消除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" y="447580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67335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check_circle_2E7D5B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15" y="4741164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0824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部分完成</a:t>
            </a:r>
            <a:endParaRPr sz="1050" b="1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596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4398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5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信道自适应的可靠传输机制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9884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9" name="Picture 48" descr="query_stats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45" y="3561405"/>
            <a:ext cx="174101" cy="17410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1947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外码激活点二维刻画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49884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49884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245" y="4018605"/>
            <a:ext cx="174101" cy="17410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1947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SNR/残差统计量构造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449884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49884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sync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45" y="447580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47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在线映射与 GOP 边界热切换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1383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5" y="4741164"/>
            <a:ext cx="228600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6130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15644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8446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7823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3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通信与感知的共存机制及微动延伸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33932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ecg_heart_2E5F9E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725" y="3561405"/>
            <a:ext cx="174101" cy="1741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5995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 / 关视频业务的共存对照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33932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33932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equalizer_2E5F9E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725" y="4018605"/>
            <a:ext cx="174101" cy="1741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payload / sensing_pilot 配比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3932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3932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4" name="Picture 73" descr="monitor_heart_2E5F9E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725" y="4475805"/>
            <a:ext cx="174101" cy="1741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5995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共存折中曲线（延伸：微动）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35431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9175" y="4741164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0178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研究内容（一）：跨层基线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>
            <p:custDataLst>
              <p:tags r:id="rId3"/>
            </p:custDataLst>
          </p:nvPr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>
            <p:custDataLst>
              <p:tags r:id="rId4"/>
            </p:custDataLst>
          </p:nvPr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容器误码放大因子 γ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>
            <p:custDataLst>
              <p:tags r:id="rId5"/>
            </p:custDataLst>
          </p:nvPr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MPEG-TS 与裸流、三种解码器栈，在同一误码源下对比实测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>
            <p:custDataLst>
              <p:tags r:id="rId6"/>
            </p:custDataLst>
          </p:nvPr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>
            <p:custDataLst>
              <p:tags r:id="rId7"/>
            </p:custDataLst>
          </p:nvPr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队列整形与时延消除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>
            <p:custDataLst>
              <p:tags r:id="rId8"/>
            </p:custDataLst>
          </p:nvPr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四级队列由 32 帧压到 4–8 帧，阻塞写改为非阻塞丢弃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>
            <p:custDataLst>
              <p:tags r:id="rId9"/>
            </p:custDataLst>
          </p:nvPr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>
            <p:custDataLst>
              <p:tags r:id="rId10"/>
            </p:custDataLst>
          </p:nvPr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参数边界扫描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>
            <p:custDataLst>
              <p:tags r:id="rId11"/>
            </p:custDataLst>
          </p:nvPr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调制、码率、GOP 与循环前缀的可行域与性能边界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级联编码：外码在内码之外，长度前缀在</a:t>
            </a:r>
            <a:r>
              <a:rPr lang="en-US" sz="3200" b="1">
                <a:solidFill>
                  <a:srgbClr val="1F3864"/>
                </a:solidFill>
                <a:latin typeface="微软雅黑" panose="020B0503020204020204" charset="-122"/>
              </a:rPr>
              <a:t>RS</a:t>
            </a: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码字之内</a:t>
            </a:r>
            <a:endParaRPr sz="27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24" name="Rounded Rectangle 123"/>
          <p:cNvSpPr/>
          <p:nvPr/>
        </p:nvSpPr>
        <p:spPr>
          <a:xfrm>
            <a:off x="822960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UDP 载荷
H.264 裸流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5" name="Right Arrow 124"/>
          <p:cNvSpPr/>
          <p:nvPr/>
        </p:nvSpPr>
        <p:spPr>
          <a:xfrm>
            <a:off x="2679191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2980944" y="2011680"/>
            <a:ext cx="1847088" cy="1051560"/>
          </a:xfrm>
          <a:prstGeom prst="roundRect">
            <a:avLst/>
          </a:prstGeom>
          <a:solidFill>
            <a:srgbClr val="DCE6F4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RS(255,K)
外码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7" name="Right Arrow 126"/>
          <p:cNvSpPr/>
          <p:nvPr/>
        </p:nvSpPr>
        <p:spPr>
          <a:xfrm>
            <a:off x="4837175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138928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LDPC(1008,504)
内码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29" name="Right Arrow 128"/>
          <p:cNvSpPr/>
          <p:nvPr/>
        </p:nvSpPr>
        <p:spPr>
          <a:xfrm>
            <a:off x="6995160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7296912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OFDM 帧映射
1024-FFT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1" name="Right Arrow 130"/>
          <p:cNvSpPr/>
          <p:nvPr/>
        </p:nvSpPr>
        <p:spPr>
          <a:xfrm>
            <a:off x="9153144" y="2409444"/>
            <a:ext cx="310896" cy="256032"/>
          </a:xfrm>
          <a:prstGeom prst="rightArrow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9454896" y="2011680"/>
            <a:ext cx="1847088" cy="105156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 panose="020B0503020204020204" charset="-122"/>
              </a:rPr>
              <a:t>空口发送</a:t>
            </a:r>
            <a:endParaRPr sz="1500" b="1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841248" y="3493008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1078865" y="3465830"/>
            <a:ext cx="8114665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2 字节长度前缀位于 RS 码字内部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，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它是接收端切分 </a:t>
            </a:r>
            <a:r>
              <a:rPr lang="en-US" altLang="zh-CN" sz="1900" b="1" i="0">
                <a:solidFill>
                  <a:srgbClr val="1F3864"/>
                </a:solidFill>
                <a:latin typeface="微软雅黑" panose="020B0503020204020204" charset="-122"/>
              </a:rPr>
              <a:t>UDP 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载荷的唯一依据</a:t>
            </a:r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l"/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41248" y="4096511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78865" y="4075430"/>
            <a:ext cx="9300210" cy="675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无外码时前缀裸露</a:t>
            </a:r>
            <a:r>
              <a:rPr lang="en-US" sz="1900" b="1" i="0">
                <a:solidFill>
                  <a:srgbClr val="1F3864"/>
                </a:solidFill>
                <a:latin typeface="微软雅黑" panose="020B0503020204020204" charset="-122"/>
              </a:rPr>
              <a:t>,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一处比特错误足以让整条字节流错位，而</a:t>
            </a:r>
            <a:r>
              <a:rPr lang="zh-CN" altLang="en-US" sz="1900" b="1" i="0">
                <a:solidFill>
                  <a:srgbClr val="1F3864"/>
                </a:solidFill>
                <a:latin typeface="微软雅黑" panose="020B0503020204020204" charset="-122"/>
              </a:rPr>
              <a:t>非只坏一个包</a:t>
            </a:r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l"/>
            <a:endParaRPr lang="zh-CN" altLang="en-US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41248" y="4700016"/>
            <a:ext cx="20116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18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1078865" y="4672330"/>
            <a:ext cx="6892925" cy="383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外码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在稳态环境下的实际功能为</a:t>
            </a:r>
            <a:r>
              <a:rPr sz="1900" b="1" i="0">
                <a:solidFill>
                  <a:srgbClr val="1F3864"/>
                </a:solidFill>
                <a:latin typeface="微软雅黑" panose="020B0503020204020204" charset="-122"/>
              </a:rPr>
              <a:t>分帧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，而非</a:t>
            </a:r>
            <a:r>
              <a:rPr lang="zh-CN" sz="1900" b="1" i="0">
                <a:solidFill>
                  <a:srgbClr val="1F3864"/>
                </a:solidFill>
                <a:latin typeface="微软雅黑" panose="020B0503020204020204" charset="-122"/>
              </a:rPr>
              <a:t>纠错</a:t>
            </a:r>
            <a:endParaRPr lang="zh-CN" sz="19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31152" y="4579620"/>
            <a:ext cx="4828032" cy="19385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31152" y="4579620"/>
            <a:ext cx="4828032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grid_on_FFFFFF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465277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43216" y="4579620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码字内的 2 字节长度前缀与分帧完整性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077456" y="5237988"/>
            <a:ext cx="952439" cy="420624"/>
          </a:xfrm>
          <a:prstGeom prst="roundRect">
            <a:avLst>
              <a:gd name="adj" fmla="val 4000"/>
            </a:avLst>
          </a:prstGeom>
          <a:solidFill>
            <a:srgbClr val="F9E3E0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6" y="5256276"/>
            <a:ext cx="9524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
2 字节
(Length)</a:t>
            </a:r>
            <a:endParaRPr sz="7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029895" y="5237988"/>
            <a:ext cx="1587398" cy="420624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29895" y="5256276"/>
            <a:ext cx="15873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视频数据
L 字节
(H.264 NAL Unit)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617293" y="5237988"/>
            <a:ext cx="1995586" cy="420624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FC3C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7293" y="5256276"/>
            <a:ext cx="199558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冗余
(253 – L) 字节
(Parity)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77456" y="5018532"/>
            <a:ext cx="453542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码字（255 字节）</a:t>
            </a:r>
            <a:endParaRPr sz="8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7077456" y="514654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77456" y="5146548"/>
            <a:ext cx="4535424" cy="0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612880" y="514654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095744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5744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571231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86016" y="628040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(Big-Endian)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8101583" y="6115812"/>
            <a:ext cx="438913" cy="0"/>
          </a:xfrm>
          <a:prstGeom prst="line">
            <a:avLst/>
          </a:prstGeom>
          <a:ln w="1524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19872" y="569518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
错误</a:t>
            </a:r>
            <a:endParaRPr sz="62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741664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41664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217152" y="598779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BE3E1"/>
          </a:solidFill>
          <a:ln w="7620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17152" y="598779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50224" y="628040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</a:t>
            </a:r>
            <a:endParaRPr sz="7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(Length Parsing Error)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10131552" y="6115812"/>
            <a:ext cx="365760" cy="0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0533888" y="5914644"/>
            <a:ext cx="1170432" cy="420624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33888" y="5914644"/>
            <a:ext cx="11704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字节流失步</a:t>
            </a:r>
            <a:endParaRPr sz="7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(Byte-stream Misalignment)</a:t>
            </a:r>
            <a:endParaRPr sz="6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同一误码流，容器与解码器让失效差两个数量级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68680" y="1783080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MPEG-TS + VLC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3703320" y="1828800"/>
            <a:ext cx="4892040" cy="329184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705087" y="1801368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B03A2E"/>
                </a:solidFill>
                <a:latin typeface="微软雅黑" panose="020B0503020204020204" charset="-122"/>
              </a:rPr>
              <a:t>≈ 500×</a:t>
            </a:r>
            <a:endParaRPr sz="1900" b="1" i="0">
              <a:solidFill>
                <a:srgbClr val="B03A2E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68680" y="2496312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MPEG-TS + ffplay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3703320" y="2542032"/>
            <a:ext cx="3944291" cy="329184"/>
          </a:xfrm>
          <a:prstGeom prst="round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757339" y="2514600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B03A2E"/>
                </a:solidFill>
                <a:latin typeface="微软雅黑" panose="020B0503020204020204" charset="-122"/>
              </a:rPr>
              <a:t>≈ 150×</a:t>
            </a:r>
            <a:endParaRPr sz="1900" b="1" i="0">
              <a:solidFill>
                <a:srgbClr val="B03A2E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68680" y="3209544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裸流 + ffplay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703320" y="3255264"/>
            <a:ext cx="1636903" cy="329184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449951" y="3227832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F5597"/>
                </a:solidFill>
                <a:latin typeface="微软雅黑" panose="020B0503020204020204" charset="-122"/>
              </a:rPr>
              <a:t>≈ 8×</a:t>
            </a:r>
            <a:endParaRPr sz="1900" b="1" i="0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68680" y="3922776"/>
            <a:ext cx="2697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裸流 + GStreamer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3703320" y="3968496"/>
            <a:ext cx="1091268" cy="329184"/>
          </a:xfrm>
          <a:prstGeom prst="roundRect">
            <a:avLst/>
          </a:prstGeom>
          <a:solidFill>
            <a:srgbClr val="2F55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904316" y="3941063"/>
            <a:ext cx="1097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F5597"/>
                </a:solidFill>
                <a:latin typeface="微软雅黑" panose="020B0503020204020204" charset="-122"/>
              </a:rPr>
              <a:t>≈ 4×</a:t>
            </a:r>
            <a:endParaRPr sz="1900" b="1" i="0">
              <a:solidFill>
                <a:srgbClr val="2F5597"/>
              </a:solidFill>
              <a:latin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3703320" y="4352544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微软雅黑" panose="020B0503020204020204" charset="-122"/>
              </a:rPr>
              <a:t>容器放大因子 γ（对数刻度）</a:t>
            </a:r>
            <a:endParaRPr sz="1400" b="0" i="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68680" y="455371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A1A1A"/>
                </a:solidFill>
                <a:latin typeface="微软雅黑" panose="020B0503020204020204" charset="-122"/>
              </a:rPr>
              <a:t>TS 的同步字节与连续性计数器一旦失锁，解码器整段丢弃；裸流按 NAL 起始码逐帧重新同步。</a:t>
            </a:r>
            <a:endParaRPr sz="17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队列整形：把无界的时延累积变成有界丢帧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Rounded Rectangle 104"/>
          <p:cNvSpPr/>
          <p:nvPr/>
        </p:nvSpPr>
        <p:spPr>
          <a:xfrm>
            <a:off x="868680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≈ 250 ms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端到端时延，无累积趋势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4453128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≈ 80%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来自 H.264 解码环节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037575" y="1965960"/>
            <a:ext cx="3200400" cy="1371600"/>
          </a:xfrm>
          <a:prstGeom prst="roundRect">
            <a:avLst/>
          </a:prstGeom>
          <a:solidFill>
            <a:srgbClr val="EEF1F6"/>
          </a:solidFill>
          <a:ln w="1397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800" b="1">
                <a:solidFill>
                  <a:srgbClr val="1F3864"/>
                </a:solidFill>
                <a:latin typeface="微软雅黑" panose="020B0503020204020204" charset="-122"/>
              </a:rPr>
              <a:t>32 → 4–8</a:t>
            </a:r>
            <a:endParaRPr sz="3800" b="1">
              <a:solidFill>
                <a:srgbClr val="1F3864"/>
              </a:solidFill>
              <a:latin typeface="微软雅黑" panose="020B0503020204020204" charset="-122"/>
            </a:endParaRPr>
          </a:p>
          <a:p>
            <a:pPr algn="ctr"/>
            <a:r>
              <a:rPr sz="1500">
                <a:solidFill>
                  <a:srgbClr val="595959"/>
                </a:solidFill>
                <a:latin typeface="微软雅黑" panose="020B0503020204020204" charset="-122"/>
              </a:rPr>
              <a:t>队列深度（帧）</a:t>
            </a:r>
            <a:endParaRPr sz="15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68680" y="37033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微软雅黑" panose="020B0503020204020204" charset="-122"/>
              </a:rPr>
              <a:t>问题：解码器一卡，UDP 缓冲堆积 → 发射端反压 → 队列更深，形成正反馈。</a:t>
            </a:r>
            <a:endParaRPr sz="18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68680" y="4133087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微软雅黑" panose="020B0503020204020204" charset="-122"/>
              </a:rPr>
              <a:t>对策：队列压到维持连续处理的最小值，阻塞写改为满则丢弃（try_push）。</a:t>
            </a:r>
            <a:endParaRPr sz="18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39640" y="4608576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04232" y="4608576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队列优化策略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739640" y="5010912"/>
            <a:ext cx="7040880" cy="84124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58512" y="5084064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队列深度优化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（缓存帧数）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55792" y="504748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32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047232" y="5212080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47232" y="526877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47232" y="5325465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47232" y="5382158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47232" y="5438851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47232" y="549554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46064" y="5504688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优化前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(易积压、时延大)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6541008" y="5358384"/>
            <a:ext cx="310896" cy="0"/>
          </a:xfrm>
          <a:prstGeom prst="line">
            <a:avLst/>
          </a:prstGeom>
          <a:ln w="2540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943344" y="504748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4 - 8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126224" y="528523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26224" y="534192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26224" y="5398617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3344" y="5504688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优化后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(时延更稳定)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7967472" y="5065776"/>
            <a:ext cx="0" cy="713232"/>
          </a:xfrm>
          <a:prstGeom prst="line">
            <a:avLst/>
          </a:prstGeom>
          <a:ln w="12700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132064" y="5084064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写入方式改进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（发送端）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8808720" y="5266944"/>
            <a:ext cx="1316736" cy="237744"/>
          </a:xfrm>
          <a:prstGeom prst="roundRect">
            <a:avLst>
              <a:gd name="adj" fmla="val 10000"/>
            </a:avLst>
          </a:prstGeom>
          <a:solidFill>
            <a:srgbClr val="FDF2F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8720" y="5266944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A33A2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queue.push(frame);</a:t>
            </a:r>
            <a:endParaRPr sz="740" b="0" i="0">
              <a:solidFill>
                <a:srgbClr val="A33A2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772144" y="552297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(可能引发排队积压)</a:t>
            </a:r>
            <a:endParaRPr sz="6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10180320" y="5385816"/>
            <a:ext cx="274320" cy="0"/>
          </a:xfrm>
          <a:prstGeom prst="line">
            <a:avLst/>
          </a:prstGeom>
          <a:ln w="2032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491216" y="5266944"/>
            <a:ext cx="1225296" cy="23774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91216" y="5266944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queue.try_push();</a:t>
            </a:r>
            <a:endParaRPr sz="70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454640" y="5522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(丢弃过帧，降低时延波动)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研究内容（二）：激活点与自适应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受控衰减扫描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0–20 dB 衰减下，同步记录四档外码的纠错与不可纠事件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激活点刻画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给出 SNR–纠错事件率曲线，确定外码真正开始起作用的区段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在线映射与热切换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SNR 与残差统计量映射到码率档位，切换限定在 GOP 与帧边界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微软雅黑" panose="020B0503020204020204" charset="-122"/>
              </a:rPr>
              <a:t>研究内容（三）：共存机制与微动延伸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22960" y="192024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78992" y="190195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共存对照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78992" y="230428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开/关视频业务两种条件下，测检测概率、距离误差与虚警率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22960" y="288036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1078992" y="286207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资源配比扫描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1078992" y="32644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payload 与 sensing_pilot 配比 2–3 档，给出吞吐—检测折中曲线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822960" y="3840480"/>
            <a:ext cx="20116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1F3864"/>
                </a:solidFill>
                <a:latin typeface="微软雅黑" panose="020B0503020204020204" charset="-122"/>
              </a:rPr>
              <a:t>▍</a:t>
            </a:r>
            <a:endParaRPr sz="24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1078992" y="3822192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i="0">
                <a:solidFill>
                  <a:srgbClr val="1F3864"/>
                </a:solidFill>
                <a:latin typeface="微软雅黑" panose="020B0503020204020204" charset="-122"/>
              </a:rPr>
              <a:t>延伸目标</a:t>
            </a:r>
            <a:endParaRPr sz="2500" b="1" i="0">
              <a:solidFill>
                <a:srgbClr val="1F3864"/>
              </a:solidFill>
              <a:latin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1078992" y="422452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微软雅黑" panose="020B0503020204020204" charset="-122"/>
              </a:rPr>
              <a:t>共存基线成立后，用导频相位提取呼吸心率，条件性推进</a:t>
            </a:r>
            <a:endParaRPr sz="1900" b="0" i="0">
              <a:solidFill>
                <a:srgbClr val="1A1A1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现有研究工作</a:t>
            </a:r>
            <a:r>
              <a:rPr lang="zh-CN"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总结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1591056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18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" y="1591056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平台与链路  /  Platform and Link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" y="1975104"/>
            <a:ext cx="11368735" cy="6583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settings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13969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 平台部署完成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基于 OpenISAC 框架完成系统部署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实现发送端、无线链路与接收端全链路运行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169663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15968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cell_tower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396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1456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N320 + B210 空口链路搭建完成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采用 USRP N320（发射端）与 B210（接收端）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9744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完成 OFDM 通感一体化空口链路搭建与调试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1583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969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实时视频与感知并行运行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59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 1080p、30 fps 实时视频传输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95359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同步运行感知处理与结果显示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1480" y="2743200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1208" y="277063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3544" y="2743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初步研究结果  /  Preliminary Results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1480" y="3145536"/>
            <a:ext cx="4224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1）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相同</a:t>
            </a:r>
            <a:r>
              <a:rPr lang="en-US" alt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γ 值下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不同组合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的实测结果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73168" y="31455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2）端到端时延测试结果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3145536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3） CP 对比实验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5705856"/>
            <a:ext cx="0" cy="658368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/>
          </p:cNvPicPr>
          <p:nvPr/>
        </p:nvPicPr>
        <p:blipFill>
          <a:blip r:embed="rId6"/>
          <a:srcRect l="15802" b="14861"/>
          <a:stretch>
            <a:fillRect/>
          </a:stretch>
        </p:blipFill>
        <p:spPr>
          <a:xfrm>
            <a:off x="521335" y="3364865"/>
            <a:ext cx="3717925" cy="1944370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/>
        </p:nvPicPr>
        <p:blipFill>
          <a:blip r:embed="rId7"/>
          <a:srcRect r="49401"/>
          <a:stretch>
            <a:fillRect/>
          </a:stretch>
        </p:blipFill>
        <p:spPr>
          <a:xfrm>
            <a:off x="4590415" y="3279775"/>
            <a:ext cx="2706370" cy="2004060"/>
          </a:xfrm>
          <a:prstGeom prst="rect">
            <a:avLst/>
          </a:prstGeom>
        </p:spPr>
      </p:pic>
      <p:sp>
        <p:nvSpPr>
          <p:cNvPr id="2" name="bg"/>
          <p:cNvSpPr/>
          <p:nvPr/>
        </p:nvSpPr>
        <p:spPr>
          <a:xfrm>
            <a:off x="6995160" y="3277235"/>
            <a:ext cx="624205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/>
        </p:nvGraphicFramePr>
        <p:xfrm>
          <a:off x="7682230" y="3352165"/>
          <a:ext cx="410781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1298575"/>
                <a:gridCol w="1965325"/>
              </a:tblGrid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128（基线）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64（实验）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CP 开销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12.5%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6.7%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吞吐增益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+5.9%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0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同步状态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✓  持续稳定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✕  “No valid delay found” 循环</a:t>
                      </a:r>
                      <a:endParaRPr sz="1000" b="1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CFO 估计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7.4 kHz（约 2.3 ppm）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7.4 → 95 kHz</a:t>
                      </a:r>
                      <a:r>
                        <a:rPr sz="1000" b="0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
（30.6 ppm，物理不可实现）</a:t>
                      </a:r>
                      <a:endParaRPr sz="1000" b="0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71" name="bg"/>
          <p:cNvSpPr/>
          <p:nvPr/>
        </p:nvSpPr>
        <p:spPr>
          <a:xfrm>
            <a:off x="4408805" y="3277235"/>
            <a:ext cx="273050" cy="328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研究计划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1148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2025.09 – 2026.06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课程学习与平台熟悉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120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45536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完成培养计划规定的课程学习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6" name="Picture 25" descr="menu_book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383280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学习 ISAC 与 H.264/OFDM 基础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搭建实验环境，熟悉实验平台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0896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4612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5584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9476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2026.07 – 2026.09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476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完成与论文初稿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terminal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145536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1188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</a:t>
            </a:r>
            <a:r>
              <a:rPr lang="zh-CN"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部署与 RS 模块开发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38328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1188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完成研究内容 1 的相关实验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0" name="Picture 39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621024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1188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撰写论文初稿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940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2026.09 – 2026.12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 启动与中期检查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19048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14553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4652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 RS 替换实现与单元测试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0" name="Picture 49" descr="ssid_chart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8328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652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开展激活点测量实验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2" name="Picture 5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4652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建立自适应映射模型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4" name="Picture 53" descr="fact_check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858768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4652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中期检查与阶段性总结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91540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2512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404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2027.01 – 2028.06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6404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2/3 完成与论文答辩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02512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45536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8116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完成自适应传输实验与性能评估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cell_tower_3A6CA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383280"/>
            <a:ext cx="182880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8116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共存对照与微动延伸实验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6" name="Picture 65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621024"/>
            <a:ext cx="182880" cy="1828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8116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撰写硕士学位论文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3858768"/>
            <a:ext cx="182880" cy="182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28116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预答辩与正式答辩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9" name="Picture 11" descr="logo.png"/>
          <p:cNvPicPr>
            <a:picLocks noChangeAspect="1"/>
          </p:cNvPicPr>
          <p:nvPr/>
        </p:nvPicPr>
        <p:blipFill>
          <a:blip r:embed="rId1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/>
            <a:r>
              <a:rPr sz="1000">
                <a:solidFill>
                  <a:srgbClr val="595959"/>
                </a:solidFill>
                <a:latin typeface="微软雅黑" panose="020B0503020204020204" charset="-122"/>
              </a:rPr>
              <a:t>跨层传输与感知共存研究</a:t>
            </a:r>
            <a:endParaRPr sz="1000">
              <a:solidFill>
                <a:srgbClr val="595959"/>
              </a:solidFill>
              <a:latin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004060" y="2532888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汇报完毕，敬请各位老师批评指正</a:t>
            </a:r>
            <a:endParaRPr sz="40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0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1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2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3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4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5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6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7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ags/tag38.xml><?xml version="1.0" encoding="utf-8"?>
<p:tagLst xmlns:p="http://schemas.openxmlformats.org/presentationml/2006/main">
  <p:tag name="KSO_WM_DIAGRAM_VIRTUALLY_FRAME" val="{&quot;height&quot;:211.68,&quot;left&quot;:64.8,&quot;top&quot;:149.76,&quot;width&quot;:812.16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4744</Words>
  <Application>WPS 演示</Application>
  <PresentationFormat>On-screen Show (4:3)</PresentationFormat>
  <Paragraphs>722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Arial</vt:lpstr>
      <vt:lpstr>Segoe UI</vt:lpstr>
      <vt:lpstr>微软雅黑</vt:lpstr>
      <vt:lpstr>Source Han Serif SC Heavy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还是你最可爱</cp:lastModifiedBy>
  <cp:revision>9</cp:revision>
  <dcterms:created xsi:type="dcterms:W3CDTF">2013-01-27T09:14:00Z</dcterms:created>
  <dcterms:modified xsi:type="dcterms:W3CDTF">2026-10-22T14:47:32Z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17948D07919640C68EB81743EAA37F24_13</vt:lpwstr>
  </property>
</Properties>
</file>