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9" r:id="rId6"/>
    <p:sldId id="280" r:id="rId7"/>
    <p:sldId id="281" r:id="rId8"/>
    <p:sldId id="259" r:id="rId9"/>
    <p:sldId id="260" r:id="rId10"/>
    <p:sldId id="262" r:id="rId11"/>
    <p:sldId id="282" r:id="rId12"/>
    <p:sldId id="283" r:id="rId13"/>
    <p:sldId id="284" r:id="rId14"/>
    <p:sldId id="264" r:id="rId15"/>
    <p:sldId id="285" r:id="rId16"/>
    <p:sldId id="286" r:id="rId17"/>
    <p:sldId id="287" r:id="rId18"/>
    <p:sldId id="275" r:id="rId19"/>
    <p:sldId id="276" r:id="rId20"/>
    <p:sldId id="278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2" userDrawn="1">
          <p15:clr>
            <a:srgbClr val="A4A3A4"/>
          </p15:clr>
        </p15:guide>
        <p15:guide id="2" pos="28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062"/>
        <p:guide pos="286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系统从摄像头采集 RGB 视频，经 H.264 编码进入 USRP N320 发射端：先做视频比特流封装与信道编码（RS(255,K) + LDPC(1008,504)），再做 OFDM 调制（1024 点 FFT，QPSK/16QAM），通过带循环前缀的无线 OFDM 链路传到 B210 接收端，经同步、解调、导频信道估计后进入 H.264 解码与显示。同一链路还分出感知分支，支持单基地与双基地两种感知模式。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现有基础分三块：平台与链路方面，OpenISAC 平台部署完成，N320 + B210 空口链路搭建完成，实时视频与感知可以并行运行（1080p、30 fps）。初步结果包括不同 γ 值下的距离-时间图、端到端时延曲线（约 250 ms 稳定）以及调制方式、GOP、CP 的对比实验。论文方面已完成研究内容 1 的英文初稿，RS 外码章节待重测后补充。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年度计划分四个阶段：2025.09-2026.06 课程学习与平台熟悉；2026.07-2026.09 完成研究内容 1 并撰写英文初稿；2026.09-2026.12 启动研究内容 2 并接受中期检查；2027.01-2028.06 完成研究内容 2/3 与论文答辩。预期成果包括硕士学位论文、1-2 篇英文论文、可复现脚本与数据集、开源方法体系；量化目标分别覆盖时延与 BER、切换失同步率与图像完整性、呼吸与心跳估计精度。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三类风险与对策：一是微弱信号检测风险，心跳相位变化极小，采用 C→B→A 递进目标从粗到精降低风险；二是在线切换稳定性风险，在 OFDM 帧边界与 GOP 边界处限制切换并预置回退配置；三是双功能资源冲突与环境不确定性，通过量化兼容工作区域与可控重复实验来应对。总结：本研究基于真实开源平台，内容 1 已有阶段结果，内容 2、3 路线明确。请各位老师批评指正。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5" Type="http://schemas.openxmlformats.org/officeDocument/2006/relationships/notesSlide" Target="../notesSlides/notesSlide2.xml"/><Relationship Id="rId34" Type="http://schemas.openxmlformats.org/officeDocument/2006/relationships/slideLayout" Target="../slideLayouts/slideLayout7.xml"/><Relationship Id="rId33" Type="http://schemas.openxmlformats.org/officeDocument/2006/relationships/tags" Target="../tags/tag31.xml"/><Relationship Id="rId32" Type="http://schemas.openxmlformats.org/officeDocument/2006/relationships/tags" Target="../tags/tag30.xml"/><Relationship Id="rId31" Type="http://schemas.openxmlformats.org/officeDocument/2006/relationships/tags" Target="../tags/tag29.xml"/><Relationship Id="rId30" Type="http://schemas.openxmlformats.org/officeDocument/2006/relationships/tags" Target="../tags/tag28.xml"/><Relationship Id="rId3" Type="http://schemas.openxmlformats.org/officeDocument/2006/relationships/tags" Target="../tags/tag2.xml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image" Target="../media/image2.png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3" Type="http://schemas.openxmlformats.org/officeDocument/2006/relationships/notesSlide" Target="../notesSlides/notesSlide3.x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2.png"/><Relationship Id="rId20" Type="http://schemas.openxmlformats.org/officeDocument/2006/relationships/image" Target="../media/image26.png"/><Relationship Id="rId2" Type="http://schemas.openxmlformats.org/officeDocument/2006/relationships/image" Target="../media/image8.png"/><Relationship Id="rId19" Type="http://schemas.openxmlformats.org/officeDocument/2006/relationships/image" Target="../media/image25.png"/><Relationship Id="rId18" Type="http://schemas.openxmlformats.org/officeDocument/2006/relationships/image" Target="../media/image24.png"/><Relationship Id="rId17" Type="http://schemas.openxmlformats.org/officeDocument/2006/relationships/image" Target="../media/image23.png"/><Relationship Id="rId16" Type="http://schemas.openxmlformats.org/officeDocument/2006/relationships/image" Target="../media/image22.png"/><Relationship Id="rId15" Type="http://schemas.openxmlformats.org/officeDocument/2006/relationships/image" Target="../media/image21.png"/><Relationship Id="rId14" Type="http://schemas.openxmlformats.org/officeDocument/2006/relationships/image" Target="../media/image20.png"/><Relationship Id="rId13" Type="http://schemas.openxmlformats.org/officeDocument/2006/relationships/image" Target="../media/image19.png"/><Relationship Id="rId12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image" Target="../media/image9.png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16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.png"/><Relationship Id="rId13" Type="http://schemas.openxmlformats.org/officeDocument/2006/relationships/image" Target="../media/image40.png"/><Relationship Id="rId12" Type="http://schemas.openxmlformats.org/officeDocument/2006/relationships/image" Target="../media/image39.png"/><Relationship Id="rId11" Type="http://schemas.openxmlformats.org/officeDocument/2006/relationships/image" Target="../media/image11.png"/><Relationship Id="rId10" Type="http://schemas.openxmlformats.org/officeDocument/2006/relationships/image" Target="../media/image38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png"/><Relationship Id="rId8" Type="http://schemas.openxmlformats.org/officeDocument/2006/relationships/image" Target="../media/image46.png"/><Relationship Id="rId7" Type="http://schemas.openxmlformats.org/officeDocument/2006/relationships/image" Target="../media/image45.png"/><Relationship Id="rId6" Type="http://schemas.openxmlformats.org/officeDocument/2006/relationships/image" Target="../media/image44.png"/><Relationship Id="rId5" Type="http://schemas.openxmlformats.org/officeDocument/2006/relationships/image" Target="../media/image2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51.png"/><Relationship Id="rId6" Type="http://schemas.openxmlformats.org/officeDocument/2006/relationships/image" Target="../media/image50.png"/><Relationship Id="rId5" Type="http://schemas.openxmlformats.org/officeDocument/2006/relationships/image" Target="../media/image2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image" Target="../media/image58.png"/><Relationship Id="rId7" Type="http://schemas.openxmlformats.org/officeDocument/2006/relationships/image" Target="../media/image57.png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2.png"/><Relationship Id="rId12" Type="http://schemas.openxmlformats.org/officeDocument/2006/relationships/image" Target="../media/image32.png"/><Relationship Id="rId11" Type="http://schemas.openxmlformats.org/officeDocument/2006/relationships/image" Target="../media/image61.png"/><Relationship Id="rId10" Type="http://schemas.openxmlformats.org/officeDocument/2006/relationships/image" Target="../media/image60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1481328" y="329184"/>
            <a:ext cx="0" cy="585216"/>
          </a:xfrm>
          <a:prstGeom prst="line">
            <a:avLst/>
          </a:prstGeom>
          <a:ln w="12700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572768" y="418719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20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1591056"/>
            <a:ext cx="11094415" cy="1481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4000" b="0" i="0" spc="20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面向实时视频业务的 </a:t>
            </a:r>
            <a:r>
              <a:rPr lang="en-US" altLang="zh-CN" sz="4000" b="0" i="0" spc="20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OFDM-ISAC </a:t>
            </a:r>
            <a:r>
              <a:rPr lang="zh-CN" altLang="en-US" sz="4000" b="0" i="0" spc="20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跨层传输与感知共存研究</a:t>
            </a:r>
            <a:endParaRPr lang="zh-CN" altLang="en-US" sz="4000" b="0" i="0" spc="20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2331720" y="3319272"/>
            <a:ext cx="7528255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711799" y="3241548"/>
            <a:ext cx="768096" cy="6858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920240" y="4389120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1" name="Picture 20" descr="person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637" y="4457517"/>
            <a:ext cx="174101" cy="17410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322576" y="44074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答辩人：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叶嘉锐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864608" y="4389120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4" name="Picture 23" descr="school_1F5F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005" y="4457517"/>
            <a:ext cx="174101" cy="17410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66944" y="44074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学号：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202530310195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808975" y="4389120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7" name="Picture 26" descr="description_1F5FA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7373" y="4457517"/>
            <a:ext cx="174101" cy="17410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11311" y="44074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专业：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通信工程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1920240" y="4828032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0" name="Picture 29" descr="group_1F5FA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8637" y="4896429"/>
            <a:ext cx="174101" cy="17410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322576" y="48463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指导教师：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徐</a:t>
            </a:r>
            <a:r>
              <a:rPr lang="zh-CN"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志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京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4864608" y="4828032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3" name="Picture 32" descr="person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005" y="4896429"/>
            <a:ext cx="174101" cy="17410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266944" y="48463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实践导师：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丁鹏仁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7808975" y="4828032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6" name="Picture 35" descr="event_1F5FA8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7373" y="4896429"/>
            <a:ext cx="174101" cy="17410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11311" y="48463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2026</a:t>
            </a:r>
            <a:r>
              <a:rPr lang="en-US"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.10.28</a:t>
            </a:r>
            <a:endParaRPr lang="en-US"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4700016" y="4370832"/>
            <a:ext cx="0" cy="82296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44383" y="4370832"/>
            <a:ext cx="0" cy="82296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932688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400" b="0" i="0" spc="60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目 录</a:t>
            </a:r>
            <a:endParaRPr sz="4400" b="0" i="0" spc="60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947007" y="1673352"/>
            <a:ext cx="667512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77175" y="1673352"/>
            <a:ext cx="667512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>
            <p:custDataLst>
              <p:tags r:id="rId2"/>
            </p:custDataLst>
          </p:nvPr>
        </p:nvSpPr>
        <p:spPr>
          <a:xfrm>
            <a:off x="841248" y="1874393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>
            <p:custDataLst>
              <p:tags r:id="rId3"/>
            </p:custDataLst>
          </p:nvPr>
        </p:nvSpPr>
        <p:spPr>
          <a:xfrm>
            <a:off x="1042416" y="2048129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4"/>
            </p:custDataLst>
          </p:nvPr>
        </p:nvSpPr>
        <p:spPr>
          <a:xfrm>
            <a:off x="1042416" y="2048129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01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24" name="Connector 23"/>
          <p:cNvCxnSpPr/>
          <p:nvPr>
            <p:custDataLst>
              <p:tags r:id="rId5"/>
            </p:custDataLst>
          </p:nvPr>
        </p:nvCxnSpPr>
        <p:spPr>
          <a:xfrm>
            <a:off x="1773936" y="2075561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>
            <p:custDataLst>
              <p:tags r:id="rId6"/>
            </p:custDataLst>
          </p:nvPr>
        </p:nvSpPr>
        <p:spPr>
          <a:xfrm>
            <a:off x="1920240" y="2185543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研究背景及意义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Rounded Rectangle 25"/>
          <p:cNvSpPr/>
          <p:nvPr>
            <p:custDataLst>
              <p:tags r:id="rId7"/>
            </p:custDataLst>
          </p:nvPr>
        </p:nvSpPr>
        <p:spPr>
          <a:xfrm>
            <a:off x="6400800" y="1874393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Oval 26"/>
          <p:cNvSpPr/>
          <p:nvPr>
            <p:custDataLst>
              <p:tags r:id="rId8"/>
            </p:custDataLst>
          </p:nvPr>
        </p:nvSpPr>
        <p:spPr>
          <a:xfrm>
            <a:off x="6601968" y="2048129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9"/>
            </p:custDataLst>
          </p:nvPr>
        </p:nvSpPr>
        <p:spPr>
          <a:xfrm>
            <a:off x="6601968" y="2048129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02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29" name="Connector 28"/>
          <p:cNvCxnSpPr/>
          <p:nvPr>
            <p:custDataLst>
              <p:tags r:id="rId10"/>
            </p:custDataLst>
          </p:nvPr>
        </p:nvCxnSpPr>
        <p:spPr>
          <a:xfrm>
            <a:off x="7333488" y="2075561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>
            <p:custDataLst>
              <p:tags r:id="rId11"/>
            </p:custDataLst>
          </p:nvPr>
        </p:nvSpPr>
        <p:spPr>
          <a:xfrm>
            <a:off x="7479792" y="2185543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国内外研究现状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Rounded Rectangle 30"/>
          <p:cNvSpPr/>
          <p:nvPr>
            <p:custDataLst>
              <p:tags r:id="rId12"/>
            </p:custDataLst>
          </p:nvPr>
        </p:nvSpPr>
        <p:spPr>
          <a:xfrm>
            <a:off x="841248" y="3099689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Oval 31"/>
          <p:cNvSpPr/>
          <p:nvPr>
            <p:custDataLst>
              <p:tags r:id="rId13"/>
            </p:custDataLst>
          </p:nvPr>
        </p:nvSpPr>
        <p:spPr>
          <a:xfrm>
            <a:off x="1042416" y="3273425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>
            <p:custDataLst>
              <p:tags r:id="rId14"/>
            </p:custDataLst>
          </p:nvPr>
        </p:nvSpPr>
        <p:spPr>
          <a:xfrm>
            <a:off x="1042416" y="3273425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03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34" name="Connector 33"/>
          <p:cNvCxnSpPr/>
          <p:nvPr>
            <p:custDataLst>
              <p:tags r:id="rId15"/>
            </p:custDataLst>
          </p:nvPr>
        </p:nvCxnSpPr>
        <p:spPr>
          <a:xfrm>
            <a:off x="1773936" y="3300857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>
            <p:custDataLst>
              <p:tags r:id="rId16"/>
            </p:custDataLst>
          </p:nvPr>
        </p:nvSpPr>
        <p:spPr>
          <a:xfrm>
            <a:off x="1920240" y="3410838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研究内容与关键问题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>
            <p:custDataLst>
              <p:tags r:id="rId17"/>
            </p:custDataLst>
          </p:nvPr>
        </p:nvSpPr>
        <p:spPr>
          <a:xfrm>
            <a:off x="6400800" y="3099689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Oval 36"/>
          <p:cNvSpPr/>
          <p:nvPr>
            <p:custDataLst>
              <p:tags r:id="rId18"/>
            </p:custDataLst>
          </p:nvPr>
        </p:nvSpPr>
        <p:spPr>
          <a:xfrm>
            <a:off x="6601968" y="3273425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>
            <p:custDataLst>
              <p:tags r:id="rId19"/>
            </p:custDataLst>
          </p:nvPr>
        </p:nvSpPr>
        <p:spPr>
          <a:xfrm>
            <a:off x="6601968" y="3273425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04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39" name="Connector 38"/>
          <p:cNvCxnSpPr/>
          <p:nvPr>
            <p:custDataLst>
              <p:tags r:id="rId20"/>
            </p:custDataLst>
          </p:nvPr>
        </p:nvCxnSpPr>
        <p:spPr>
          <a:xfrm>
            <a:off x="7333488" y="3300857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>
            <p:custDataLst>
              <p:tags r:id="rId21"/>
            </p:custDataLst>
          </p:nvPr>
        </p:nvSpPr>
        <p:spPr>
          <a:xfrm>
            <a:off x="7479792" y="3410838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研究方法与技术路线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Rounded Rectangle 40"/>
          <p:cNvSpPr/>
          <p:nvPr>
            <p:custDataLst>
              <p:tags r:id="rId22"/>
            </p:custDataLst>
          </p:nvPr>
        </p:nvSpPr>
        <p:spPr>
          <a:xfrm>
            <a:off x="841603" y="4324985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Oval 41"/>
          <p:cNvSpPr/>
          <p:nvPr>
            <p:custDataLst>
              <p:tags r:id="rId23"/>
            </p:custDataLst>
          </p:nvPr>
        </p:nvSpPr>
        <p:spPr>
          <a:xfrm>
            <a:off x="1042771" y="4498721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>
            <p:custDataLst>
              <p:tags r:id="rId24"/>
            </p:custDataLst>
          </p:nvPr>
        </p:nvSpPr>
        <p:spPr>
          <a:xfrm>
            <a:off x="1042771" y="4498721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05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44" name="Connector 43"/>
          <p:cNvCxnSpPr/>
          <p:nvPr>
            <p:custDataLst>
              <p:tags r:id="rId25"/>
            </p:custDataLst>
          </p:nvPr>
        </p:nvCxnSpPr>
        <p:spPr>
          <a:xfrm>
            <a:off x="1774291" y="4526153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>
            <p:custDataLst>
              <p:tags r:id="rId26"/>
            </p:custDataLst>
          </p:nvPr>
        </p:nvSpPr>
        <p:spPr>
          <a:xfrm>
            <a:off x="1920875" y="4636135"/>
            <a:ext cx="1699260" cy="3105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现有基础、进度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</a:t>
            </a: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9" name="Picture 11" descr="logo.png"/>
          <p:cNvPicPr>
            <a:picLocks noChangeAspect="1"/>
          </p:cNvPicPr>
          <p:nvPr/>
        </p:nvPicPr>
        <p:blipFill>
          <a:blip r:embed="rId27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2" name="Rounded Rectangle 40"/>
          <p:cNvSpPr/>
          <p:nvPr>
            <p:custDataLst>
              <p:tags r:id="rId28"/>
            </p:custDataLst>
          </p:nvPr>
        </p:nvSpPr>
        <p:spPr>
          <a:xfrm>
            <a:off x="6401028" y="4324985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44"/>
          <p:cNvSpPr txBox="1"/>
          <p:nvPr>
            <p:custDataLst>
              <p:tags r:id="rId29"/>
            </p:custDataLst>
          </p:nvPr>
        </p:nvSpPr>
        <p:spPr>
          <a:xfrm>
            <a:off x="7480020" y="4645025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年度计划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</a:t>
            </a: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TextBox 32"/>
          <p:cNvSpPr txBox="1"/>
          <p:nvPr>
            <p:custDataLst>
              <p:tags r:id="rId30"/>
            </p:custDataLst>
          </p:nvPr>
        </p:nvSpPr>
        <p:spPr>
          <a:xfrm>
            <a:off x="1169416" y="3400425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03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50" name="Connector 33"/>
          <p:cNvCxnSpPr/>
          <p:nvPr>
            <p:custDataLst>
              <p:tags r:id="rId31"/>
            </p:custDataLst>
          </p:nvPr>
        </p:nvCxnSpPr>
        <p:spPr>
          <a:xfrm>
            <a:off x="1900936" y="3427857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37"/>
          <p:cNvSpPr txBox="1"/>
          <p:nvPr>
            <p:custDataLst>
              <p:tags r:id="rId32"/>
            </p:custDataLst>
          </p:nvPr>
        </p:nvSpPr>
        <p:spPr>
          <a:xfrm>
            <a:off x="6601968" y="4498975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06</a:t>
            </a:r>
            <a:endParaRPr lang="en-US"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52" name="Connector 38"/>
          <p:cNvCxnSpPr/>
          <p:nvPr>
            <p:custDataLst>
              <p:tags r:id="rId33"/>
            </p:custDataLst>
          </p:nvPr>
        </p:nvCxnSpPr>
        <p:spPr>
          <a:xfrm>
            <a:off x="7398893" y="4553712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60704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研究背景（一）：6G 与通感一体化</a:t>
            </a:r>
            <a:endParaRPr lang="en-US" sz="33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22960" y="192024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078992" y="190195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ISAC 是 6G 的六大场景之一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078992" y="23042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ITU-R M.2160 明确将通感一体化列为 6G 关键使用场景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22960" y="288036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078992" y="286207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通信与感知共享同一套资源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078992" y="32644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硬件、频谱与 OFDM 波形三者共享，感知成为空口原生能力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22960" y="384048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078992" y="382219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面向海事与工业的真实需求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78992" y="4224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智慧港口、智慧交通、远海监测与健康监护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60704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研究背景（二）：实时视频业务的挑战</a:t>
            </a:r>
            <a:endParaRPr lang="en-US" sz="33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22960" y="192024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078992" y="190195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持续高吞吐、低时延、无累积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078992" y="23042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端到端时延必须有界，且长时间运行不随时间增长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22960" y="288036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078992" y="286207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H.264 对残留误码极度敏感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078992" y="32644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单个误码宏块沿帧间预测传播，直到下一个 I 帧才恢复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22960" y="384048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078992" y="382219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误差与上层选型强耦合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78992" y="4224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物理层残留误码会被容器、解码器、缓冲队列逐级放大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60704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研究背景（三）：感知共存的需求</a:t>
            </a:r>
            <a:endParaRPr lang="en-US" sz="33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22960" y="192024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078992" y="190195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同一波形承载通信与感知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078992" y="23042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这是 ISAC 落地的前提，也是本课题的实验形态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22960" y="288036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078992" y="286207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资源上直接竞争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078992" y="32644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视频占用的时频资源，与感知的相参与导频需求冲突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22960" y="384048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078992" y="382219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共存代价缺少实测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78992" y="4224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现有平台多评“纯通信”或“纯感知”，并发代价尚无系统测量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05840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4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研究目的与研究意义</a:t>
            </a:r>
            <a:endParaRPr sz="34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7200" y="1792224"/>
            <a:ext cx="5358384" cy="267004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1792224"/>
            <a:ext cx="5358384" cy="45720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3" name="Picture 22" descr="target_FFFFFF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883664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9264" y="1792224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研究目的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40080" y="2450592"/>
            <a:ext cx="457200" cy="457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4505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05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7" name="Picture 26" descr="description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441448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883664" y="2395728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建立强编码 OFDM-ISAC 链路上的</a:t>
            </a:r>
            <a:endParaRPr sz="11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1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实时视频跨层优化方案</a:t>
            </a:r>
            <a:endParaRPr sz="11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640080" y="2999232"/>
            <a:ext cx="499262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40080" y="3127248"/>
            <a:ext cx="457200" cy="457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1272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05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2" name="Picture 31" descr="insights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118104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83664" y="3072384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构建依据信道状态自适应调整的</a:t>
            </a:r>
            <a:endParaRPr sz="11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1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可靠传输机制</a:t>
            </a:r>
            <a:endParaRPr sz="11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40080" y="3675888"/>
            <a:ext cx="499262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40080" y="3803903"/>
            <a:ext cx="457200" cy="457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803903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05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7" name="Picture 36" descr="ecg_heart_2E5F9E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3794759"/>
            <a:ext cx="457200" cy="457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883664" y="3749039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研究通信业务与感知功能的</a:t>
            </a:r>
            <a:endParaRPr sz="11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1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共存机制与资源折中</a:t>
            </a:r>
            <a:endParaRPr sz="11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44768" y="1792224"/>
            <a:ext cx="5577840" cy="267004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44768" y="1792224"/>
            <a:ext cx="5577840" cy="45720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1" name="Picture 40" descr="lightbulb_FFFFFF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1883664"/>
            <a:ext cx="274320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656831" y="1792224"/>
            <a:ext cx="4974336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研究意义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272783" y="2359152"/>
            <a:ext cx="2688336" cy="1938528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 w="9525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4" name="Picture 43" descr="school_2E5F9E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2468880"/>
            <a:ext cx="256032" cy="2560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729983" y="2459736"/>
            <a:ext cx="21396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理论意义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6" name="Picture 45" descr="inventory_2_4A7CB8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5" y="2798064"/>
            <a:ext cx="237744" cy="23774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748271" y="2761488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补足连续媒体业务在真实 ISAC 链路上的端到端研究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8" name="Picture 47" descr="description_4A7CB8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7375" y="3657346"/>
            <a:ext cx="237744" cy="23774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748271" y="3620770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提出面向视频业务的可复用跨层分析框架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906256" y="2359152"/>
            <a:ext cx="2688336" cy="1938528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 w="9525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1" name="Picture 50" descr="settings_2E5F9E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2560" y="2468880"/>
            <a:ext cx="256032" cy="25603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363456" y="2459736"/>
            <a:ext cx="21396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工程 / 应用意义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3" name="Picture 52" descr="monitor_4A7CB8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0848" y="2798064"/>
            <a:ext cx="237744" cy="23774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381744" y="2761488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全部基于开源 OpenISAC 平台实现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5" name="Picture 54" descr="handyman_4A7CB8_3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70848" y="3236976"/>
            <a:ext cx="237744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381744" y="3200400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可指导低成本 ISAC 原型系统部署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7" name="Picture 56" descr="group_4A7CB8_35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70848" y="3675887"/>
            <a:ext cx="237744" cy="23774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381744" y="3639312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面向智慧健康监测等场景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9" name="Picture 58" descr="hub_2E5F9E_35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626864"/>
            <a:ext cx="274320" cy="27432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86384" y="46360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应用场景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1783080" y="4773168"/>
            <a:ext cx="9933127" cy="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457200" y="4882896"/>
            <a:ext cx="3712463" cy="841248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9525">
            <a:solidFill>
              <a:srgbClr val="D6E4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3" name="Picture 62" descr="app_por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16434" y="4919472"/>
            <a:ext cx="2116653" cy="768096"/>
          </a:xfrm>
          <a:prstGeom prst="rect">
            <a:avLst/>
          </a:prstGeom>
        </p:spPr>
      </p:pic>
      <p:sp>
        <p:nvSpPr>
          <p:cNvPr id="64" name="Oval 63"/>
          <p:cNvSpPr/>
          <p:nvPr/>
        </p:nvSpPr>
        <p:spPr>
          <a:xfrm>
            <a:off x="603504" y="49926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5" name="Picture 64" descr="directions_boat_1F5FA8_35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313" y="5069433"/>
            <a:ext cx="212140" cy="21214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85216" y="5394960"/>
            <a:ext cx="146779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智慧港口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85216" y="5559552"/>
            <a:ext cx="151351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Smart Port</a:t>
            </a:r>
            <a:endParaRPr sz="72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4315968" y="4882896"/>
            <a:ext cx="3712463" cy="841248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9525">
            <a:solidFill>
              <a:srgbClr val="D6E4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9" name="Picture 68" descr="app_rescu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75202" y="4919472"/>
            <a:ext cx="2116653" cy="768096"/>
          </a:xfrm>
          <a:prstGeom prst="rect">
            <a:avLst/>
          </a:prstGeom>
        </p:spPr>
      </p:pic>
      <p:sp>
        <p:nvSpPr>
          <p:cNvPr id="70" name="Oval 69"/>
          <p:cNvSpPr/>
          <p:nvPr/>
        </p:nvSpPr>
        <p:spPr>
          <a:xfrm>
            <a:off x="4462272" y="49926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1" name="Picture 70" descr="person_search_1F5FA8_35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39081" y="5069433"/>
            <a:ext cx="212140" cy="21214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443983" y="5394960"/>
            <a:ext cx="146779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应急搜救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443983" y="5559552"/>
            <a:ext cx="151351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Emergency Rescue</a:t>
            </a:r>
            <a:endParaRPr sz="72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174736" y="4882896"/>
            <a:ext cx="3712463" cy="841248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9525">
            <a:solidFill>
              <a:srgbClr val="D6E4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5" name="Picture 74" descr="app_hospital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33970" y="4919472"/>
            <a:ext cx="2116653" cy="768096"/>
          </a:xfrm>
          <a:prstGeom prst="rect">
            <a:avLst/>
          </a:prstGeom>
        </p:spPr>
      </p:pic>
      <p:sp>
        <p:nvSpPr>
          <p:cNvPr id="76" name="Oval 75"/>
          <p:cNvSpPr/>
          <p:nvPr/>
        </p:nvSpPr>
        <p:spPr>
          <a:xfrm>
            <a:off x="8321040" y="49926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7" name="Picture 76" descr="monitor_heart_1F5FA8_35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97849" y="5069433"/>
            <a:ext cx="212140" cy="2121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302752" y="5394960"/>
            <a:ext cx="146779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智慧健康监测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302752" y="5559552"/>
            <a:ext cx="151351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Smart Health Monitoring</a:t>
            </a:r>
            <a:endParaRPr sz="72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1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2412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国内外研究现状总览</a:t>
            </a:r>
            <a:endParaRPr sz="33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404207" y="1673352"/>
            <a:ext cx="228600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8887" y="1673352"/>
            <a:ext cx="228600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" y="1883664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" y="2002536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7280" y="2020824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平台与空口实验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4" name="Picture 23" descr="cell_tower_4A7CB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487168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63040" y="2450592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Sturm &amp; Wiesbeck 奠定 OFDM-ISAC 框架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63040" y="2706624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OpenISAC、Brunner 等推进空口实验平台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03504" y="2980944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4944" y="3063239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9" name="Picture 28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72" y="3132368"/>
            <a:ext cx="190926" cy="19092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33856" y="2980944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多聚焦感知精度与链路吞吐。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217920" y="1883664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64224" y="2002536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58000" y="2020824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无线视频传输与跨层设计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4" name="Picture 33" descr="movie_4A7CB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2487168"/>
            <a:ext cx="457200" cy="457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223760" y="2556002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包级 FEC、跨层优化、自适应流媒体、JSCC 等研究丰富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364224" y="2980944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55664" y="3063239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8" name="Picture 37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792" y="3132368"/>
            <a:ext cx="190926" cy="19092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94576" y="2980944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通常假设物理层固定，缺少与可配置 ISAC 物理层联合设计。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57200" y="3730752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03504" y="3849624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3867912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级联信道编码与残留误码处理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3" name="Picture 42" descr="layers_4A7CB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334256"/>
            <a:ext cx="457200" cy="4572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463040" y="4297680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RS+内码为经典级联结构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463040" y="4553712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外码强度传统上依赖最坏情况建模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03504" y="4828032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4944" y="4910328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8" name="Picture 47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72" y="4979456"/>
            <a:ext cx="190926" cy="19092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133856" y="4828032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场景下外码真实作用边界待实测刻画。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217920" y="3730752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364224" y="3849624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858000" y="3867912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人体感知与生命体征监测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3" name="Picture 52" descr="ecg_heart_4A7CB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4334256"/>
            <a:ext cx="457200" cy="4572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223760" y="4403090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毫米波雷达、Wi-Fi CSI、人体活动感知研究活跃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364224" y="4828032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455664" y="4910328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7" name="Picture 56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792" y="4979456"/>
            <a:ext cx="190926" cy="19092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894576" y="4828032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研究空白：同一波形上视频业务与感知并发的代价，缺少实测刻画。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7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93268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研究目标与总体研究内容</a:t>
            </a:r>
            <a:endParaRPr sz="32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75488" y="1773936"/>
            <a:ext cx="11240719" cy="859536"/>
          </a:xfrm>
          <a:prstGeom prst="roundRect">
            <a:avLst>
              <a:gd name="adj" fmla="val 6000"/>
            </a:avLst>
          </a:prstGeom>
          <a:solidFill>
            <a:srgbClr val="F5F9FE"/>
          </a:solidFill>
          <a:ln w="12700">
            <a:solidFill>
              <a:srgbClr val="C2D6EC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1920240"/>
            <a:ext cx="566928" cy="566928"/>
          </a:xfrm>
          <a:prstGeom prst="ellipse">
            <a:avLst/>
          </a:prstGeom>
          <a:solidFill>
            <a:srgbClr val="DCE9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3" name="Picture 22" descr="target_1F5F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5" y="2033625"/>
            <a:ext cx="340156" cy="34015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35024" y="1920240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总体目标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1389888" y="2048256"/>
            <a:ext cx="0" cy="329184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432304" y="2011680"/>
            <a:ext cx="0" cy="402336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596896" y="1773936"/>
            <a:ext cx="8778240" cy="8595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建立强编码 OFDM-ISAC 链路上“实时视频业务 + 感知共存”的跨层设计与实验方法体系</a:t>
            </a:r>
            <a:endParaRPr sz="15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75488" y="2761488"/>
            <a:ext cx="3712463" cy="2395728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2871216"/>
            <a:ext cx="420624" cy="42062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97280" y="2852928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1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实时视频传输的跨层优化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658368" y="349300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2" name="Picture 31" descr="bar_chart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65" y="3561405"/>
            <a:ext cx="174101" cy="17410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78992" y="34747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容器误码放大因子建模与实测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58368" y="38770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58368" y="39502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6" name="Picture 35" descr="databas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65" y="4018605"/>
            <a:ext cx="174101" cy="17410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78992" y="39319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队列优化与时延消除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658368" y="43342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58368" y="44074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0" name="Picture 39" descr="settings_2E5F9E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65" y="4475805"/>
            <a:ext cx="174101" cy="17410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78992" y="43891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调制/码率/GOP/CP 参数边界分析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673351" y="4700016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ED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3" name="Picture 42" descr="check_circle_2E7D5B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8215" y="4741164"/>
            <a:ext cx="228600" cy="2286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020824" y="47000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部分完成</a:t>
            </a:r>
            <a:endParaRPr sz="1050" b="1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4315967" y="2761488"/>
            <a:ext cx="3712463" cy="2395728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443983" y="2871216"/>
            <a:ext cx="420624" cy="42062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937759" y="2852928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2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信道自适应的可靠传输机制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4498847" y="349300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9" name="Picture 48" descr="query_stats_2E5F9E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7245" y="3561405"/>
            <a:ext cx="174101" cy="174101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919471" y="34747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外码激活点二维刻画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4498847" y="38770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4498847" y="39502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3" name="Picture 52" descr="description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7245" y="4018605"/>
            <a:ext cx="174101" cy="17410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4919471" y="39319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SNR/残差统计量构造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4498847" y="43342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4498847" y="44074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7" name="Picture 56" descr="sync_2E5F9E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7245" y="4475805"/>
            <a:ext cx="174101" cy="17410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4919471" y="43891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在线映射与 GOP 边界热切换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5513831" y="4700016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ED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0" name="Picture 59" descr="hourglass_1F5F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8695" y="4741164"/>
            <a:ext cx="228600" cy="2286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861303" y="47000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拟研究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8156447" y="2761488"/>
            <a:ext cx="3712463" cy="2395728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84463" y="2871216"/>
            <a:ext cx="420624" cy="42062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778239" y="2852928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3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通信与感知的共存机制及微动延伸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8339327" y="349300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6" name="Picture 65" descr="ecg_heart_2E5F9E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7725" y="3561405"/>
            <a:ext cx="174101" cy="174101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759951" y="34747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开 / 关视频业务的共存对照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8339327" y="38770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8339327" y="39502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0" name="Picture 69" descr="equalizer_2E5F9E_3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7725" y="4018605"/>
            <a:ext cx="174101" cy="174101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759951" y="39319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payload / sensing_pilot 配比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2" name="Connector 71"/>
          <p:cNvCxnSpPr/>
          <p:nvPr/>
        </p:nvCxnSpPr>
        <p:spPr>
          <a:xfrm>
            <a:off x="8339327" y="43342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8339327" y="44074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4" name="Picture 73" descr="monitor_heart_2E5F9E_35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07725" y="4475805"/>
            <a:ext cx="174101" cy="174101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759951" y="43891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共存折中曲线（延伸：微动）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9354311" y="4700016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ED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7" name="Picture 76" descr="hourglass_1F5F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9175" y="4741164"/>
            <a:ext cx="228600" cy="2286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9701783" y="47000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拟研究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14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93268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研究内容（一）：跨层基线</a:t>
            </a:r>
            <a:endParaRPr sz="32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22960" y="192024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078992" y="190195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容器误码放大因子 γ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078992" y="23042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MPEG-TS 与裸流、三种解码器栈，在同一误码源下对比实测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22960" y="288036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078992" y="286207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队列整形与时延消除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078992" y="32644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四级队列由 32 帧压到 4–8 帧，阻塞写改为非阻塞丢弃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22960" y="384048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078992" y="382219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参数边界扫描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78992" y="4224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调制、码率、GOP 与循环前缀的可行域与性能边界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93268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研究内容（二）：激活点与自适应</a:t>
            </a:r>
            <a:endParaRPr sz="32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22960" y="192024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078992" y="190195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受控衰减扫描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078992" y="23042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0–20 dB 衰减下，同步记录四档外码的纠错与不可纠事件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22960" y="288036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078992" y="286207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激活点刻画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078992" y="32644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给出 SNR–纠错事件率曲线，确定外码真正开始起作用的区段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22960" y="384048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078992" y="382219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在线映射与热切换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78992" y="4224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SNR 与残差统计量映射到码率档位，切换限定在 GOP 与帧边界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93268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研究内容（三）：共存机制与微动延伸</a:t>
            </a:r>
            <a:endParaRPr sz="32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22960" y="192024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078992" y="190195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共存对照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078992" y="23042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开/关视频业务两种条件下，测检测概率、距离误差与虚警率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22960" y="288036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078992" y="286207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资源配比扫描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078992" y="32644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payload 与 sensing_pilot 配比 2–3 档，给出吞吐—检测折中曲线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22960" y="384048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078992" y="382219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延伸目标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78992" y="4224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共存基线成立后，用导频相位提取呼吸心率，条件性推进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1042415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系统总体拓扑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11480" y="1700784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4320" y="1773936"/>
            <a:ext cx="1225296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865376"/>
            <a:ext cx="113385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摄像头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Camera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9184" y="3319272"/>
            <a:ext cx="111556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RGB 视频流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(1080p, 30 fps)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682496" y="1773936"/>
            <a:ext cx="1280160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28216" y="1865376"/>
            <a:ext cx="1188719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编码器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Encoder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37360" y="3319272"/>
            <a:ext cx="1170431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视频压缩编码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(H.264/AVC)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108960" y="1773936"/>
            <a:ext cx="2029968" cy="2331720"/>
          </a:xfrm>
          <a:prstGeom prst="roundRect">
            <a:avLst>
              <a:gd name="adj" fmla="val 5000"/>
            </a:avLst>
          </a:prstGeom>
          <a:solidFill>
            <a:srgbClr val="F1F7FE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1847088"/>
            <a:ext cx="20299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发射端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Transmitter (USRP N320)</a:t>
            </a:r>
            <a:endParaRPr sz="8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266944" y="1773936"/>
            <a:ext cx="1810512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7FA5D4"/>
            </a:solidFill>
            <a:prstDash val="dash"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66944" y="1847088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无线 OFDM 链路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Wireless OFDM Link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8" name="Picture 37" descr="cam_anten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7" y="2340864"/>
            <a:ext cx="1700784" cy="93268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340096" y="3374136"/>
            <a:ext cx="166420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共享 ISAC OFDM 波形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0000"/>
              </a:lnSpc>
            </a:pPr>
            <a:r>
              <a:rPr sz="8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(1024-FFT, 带循环前缀)</a:t>
            </a:r>
            <a:endParaRPr sz="8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223760" y="1773936"/>
            <a:ext cx="1975104" cy="2331720"/>
          </a:xfrm>
          <a:prstGeom prst="roundRect">
            <a:avLst>
              <a:gd name="adj" fmla="val 5000"/>
            </a:avLst>
          </a:prstGeom>
          <a:solidFill>
            <a:srgbClr val="F1F7FE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0" y="1847088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接收端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Receiver (USRP B210)</a:t>
            </a:r>
            <a:endParaRPr sz="8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9345168" y="1773936"/>
            <a:ext cx="1207008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90888" y="1865376"/>
            <a:ext cx="111556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解码器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Decoder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400032" y="3319272"/>
            <a:ext cx="109728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视频解码重建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(H.264/AVC)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0698480" y="1773936"/>
            <a:ext cx="1225296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44200" y="1865376"/>
            <a:ext cx="113385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显示端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Display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753344" y="3319272"/>
            <a:ext cx="111556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实时视频播放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(1080p, 30 fps)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1517904" y="2852928"/>
            <a:ext cx="146304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98094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157216" y="2852928"/>
            <a:ext cx="91440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09574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217152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046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749039" y="4187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感知分支 Sensing Branches</a:t>
            </a:r>
            <a:endParaRPr sz="100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4" name="Connector 63"/>
          <p:cNvCxnSpPr/>
          <p:nvPr/>
        </p:nvCxnSpPr>
        <p:spPr>
          <a:xfrm>
            <a:off x="6144768" y="4114800"/>
            <a:ext cx="0" cy="109728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846320" y="4224528"/>
            <a:ext cx="2651759" cy="0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846320" y="4224528"/>
            <a:ext cx="0" cy="146304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498079" y="4224528"/>
            <a:ext cx="0" cy="146304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144768" y="3977639"/>
            <a:ext cx="0" cy="137161"/>
          </a:xfrm>
          <a:prstGeom prst="line">
            <a:avLst/>
          </a:prstGeom>
          <a:ln w="12700">
            <a:solidFill>
              <a:srgbClr val="8FA9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3703320" y="4389120"/>
            <a:ext cx="2231136" cy="1316736"/>
          </a:xfrm>
          <a:prstGeom prst="roundRect">
            <a:avLst>
              <a:gd name="adj" fmla="val 5000"/>
            </a:avLst>
          </a:prstGeom>
          <a:solidFill>
            <a:srgbClr val="EFF7F2"/>
          </a:solidFill>
          <a:ln w="9525">
            <a:solidFill>
              <a:srgbClr val="A9CFB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03320" y="4462272"/>
            <a:ext cx="22311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单基地感知</a:t>
            </a:r>
            <a:endParaRPr sz="10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20" b="0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Monostatic sensing</a:t>
            </a:r>
            <a:endParaRPr sz="820" b="0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71" name="Picture 70" descr="cell_tower_2E7D5B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4882896"/>
            <a:ext cx="402336" cy="402336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813048" y="5285231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基于回波信号的目标检测
• 距离 / 速度估计</a:t>
            </a:r>
            <a:endParaRPr sz="8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6126480" y="4389120"/>
            <a:ext cx="2231136" cy="1316736"/>
          </a:xfrm>
          <a:prstGeom prst="roundRect">
            <a:avLst>
              <a:gd name="adj" fmla="val 5000"/>
            </a:avLst>
          </a:prstGeom>
          <a:solidFill>
            <a:srgbClr val="EFF7F2"/>
          </a:solidFill>
          <a:ln w="9525">
            <a:solidFill>
              <a:srgbClr val="A9CFB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26480" y="4462272"/>
            <a:ext cx="22311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双基地感知</a:t>
            </a:r>
            <a:endParaRPr sz="10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20" b="0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Bistatic sensing</a:t>
            </a:r>
            <a:endParaRPr sz="820" b="0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75" name="Picture 74" descr="sensors_2E7D5B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882896"/>
            <a:ext cx="402336" cy="40233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236208" y="5285231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利用发射—接收分置结构
• 多径抑制与目标定位</a:t>
            </a:r>
            <a:endParaRPr sz="8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5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>
          <a:blip r:embed="rId6"/>
          <a:srcRect l="14765" t="-4224" r="20820" b="37143"/>
          <a:stretch>
            <a:fillRect/>
          </a:stretch>
        </p:blipFill>
        <p:spPr>
          <a:xfrm>
            <a:off x="438785" y="2371090"/>
            <a:ext cx="878205" cy="685800"/>
          </a:xfrm>
          <a:prstGeom prst="rect">
            <a:avLst/>
          </a:prstGeom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7"/>
          <a:srcRect t="22056" r="-449"/>
          <a:stretch>
            <a:fillRect/>
          </a:stretch>
        </p:blipFill>
        <p:spPr>
          <a:xfrm>
            <a:off x="3161665" y="2371090"/>
            <a:ext cx="1858645" cy="1081405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8"/>
          <a:srcRect l="10587" t="8870" r="15876" b="22667"/>
          <a:stretch>
            <a:fillRect/>
          </a:stretch>
        </p:blipFill>
        <p:spPr>
          <a:xfrm>
            <a:off x="7443470" y="2304415"/>
            <a:ext cx="1636395" cy="1141730"/>
          </a:xfrm>
          <a:prstGeom prst="rect">
            <a:avLst/>
          </a:prstGeom>
        </p:spPr>
      </p:pic>
      <p:pic>
        <p:nvPicPr>
          <p:cNvPr id="89" name="图片 88"/>
          <p:cNvPicPr>
            <a:picLocks noChangeAspect="1"/>
          </p:cNvPicPr>
          <p:nvPr/>
        </p:nvPicPr>
        <p:blipFill>
          <a:blip r:embed="rId9"/>
          <a:srcRect l="20377" r="17880" b="16204"/>
          <a:stretch>
            <a:fillRect/>
          </a:stretch>
        </p:blipFill>
        <p:spPr>
          <a:xfrm>
            <a:off x="10828655" y="2251710"/>
            <a:ext cx="1003935" cy="10217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1005840"/>
            <a:ext cx="1136873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级联编码：外码在内码之外，长度前缀在码字之内</a:t>
            </a:r>
            <a:endParaRPr sz="2700" b="0" i="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11480" y="1664208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3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24" name="Rounded Rectangle 123"/>
          <p:cNvSpPr/>
          <p:nvPr/>
        </p:nvSpPr>
        <p:spPr>
          <a:xfrm>
            <a:off x="822960" y="2011680"/>
            <a:ext cx="1847088" cy="1051560"/>
          </a:xfrm>
          <a:prstGeom prst="roundRect">
            <a:avLst/>
          </a:prstGeom>
          <a:solidFill>
            <a:srgbClr val="EEF1F6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</a:rPr>
              <a:t>UDP 载荷
H.264 裸流</a:t>
            </a:r>
            <a:endParaRPr sz="1500" b="1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25" name="Right Arrow 124"/>
          <p:cNvSpPr/>
          <p:nvPr/>
        </p:nvSpPr>
        <p:spPr>
          <a:xfrm>
            <a:off x="2679191" y="2409444"/>
            <a:ext cx="310896" cy="256032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2980944" y="2011680"/>
            <a:ext cx="1847088" cy="1051560"/>
          </a:xfrm>
          <a:prstGeom prst="roundRect">
            <a:avLst/>
          </a:prstGeom>
          <a:solidFill>
            <a:srgbClr val="DCE6F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</a:rPr>
              <a:t>RS(255,K)
外码</a:t>
            </a:r>
            <a:endParaRPr sz="1500" b="1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27" name="Right Arrow 126"/>
          <p:cNvSpPr/>
          <p:nvPr/>
        </p:nvSpPr>
        <p:spPr>
          <a:xfrm>
            <a:off x="4837175" y="2409444"/>
            <a:ext cx="310896" cy="256032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5138928" y="2011680"/>
            <a:ext cx="1847088" cy="1051560"/>
          </a:xfrm>
          <a:prstGeom prst="roundRect">
            <a:avLst/>
          </a:prstGeom>
          <a:solidFill>
            <a:srgbClr val="EEF1F6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</a:rPr>
              <a:t>LDPC(1008,504)
内码</a:t>
            </a:r>
            <a:endParaRPr sz="1500" b="1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29" name="Right Arrow 128"/>
          <p:cNvSpPr/>
          <p:nvPr/>
        </p:nvSpPr>
        <p:spPr>
          <a:xfrm>
            <a:off x="6995160" y="2409444"/>
            <a:ext cx="310896" cy="256032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7296912" y="2011680"/>
            <a:ext cx="1847088" cy="1051560"/>
          </a:xfrm>
          <a:prstGeom prst="roundRect">
            <a:avLst/>
          </a:prstGeom>
          <a:solidFill>
            <a:srgbClr val="EEF1F6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</a:rPr>
              <a:t>OFDM 帧映射
1024-FFT</a:t>
            </a:r>
            <a:endParaRPr sz="1500" b="1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31" name="Right Arrow 130"/>
          <p:cNvSpPr/>
          <p:nvPr/>
        </p:nvSpPr>
        <p:spPr>
          <a:xfrm>
            <a:off x="9153144" y="2409444"/>
            <a:ext cx="310896" cy="256032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9454896" y="2011680"/>
            <a:ext cx="1847088" cy="1051560"/>
          </a:xfrm>
          <a:prstGeom prst="roundRect">
            <a:avLst/>
          </a:prstGeom>
          <a:solidFill>
            <a:srgbClr val="EEF1F6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</a:rPr>
              <a:t>空口发送</a:t>
            </a:r>
            <a:endParaRPr sz="1500" b="1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841248" y="3493008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18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78865" y="3465830"/>
            <a:ext cx="8114665" cy="67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F3864"/>
                </a:solidFill>
                <a:latin typeface="微软雅黑" panose="020B0503020204020204" charset="-122"/>
              </a:rPr>
              <a:t>2 字节长度前缀位于 RS 码字内部</a:t>
            </a:r>
            <a:r>
              <a:rPr lang="zh-CN" sz="1900" b="1" i="0">
                <a:solidFill>
                  <a:srgbClr val="1F3864"/>
                </a:solidFill>
                <a:latin typeface="微软雅黑" panose="020B0503020204020204" charset="-122"/>
              </a:rPr>
              <a:t>，</a:t>
            </a:r>
            <a:r>
              <a:rPr lang="zh-CN" altLang="en-US" sz="1900" b="1" i="0">
                <a:solidFill>
                  <a:srgbClr val="1F3864"/>
                </a:solidFill>
                <a:latin typeface="微软雅黑" panose="020B0503020204020204" charset="-122"/>
              </a:rPr>
              <a:t>它是接收端切分 </a:t>
            </a:r>
            <a:r>
              <a:rPr lang="en-US" altLang="zh-CN" sz="1900" b="1" i="0">
                <a:solidFill>
                  <a:srgbClr val="1F3864"/>
                </a:solidFill>
                <a:latin typeface="微软雅黑" panose="020B0503020204020204" charset="-122"/>
              </a:rPr>
              <a:t>UDP </a:t>
            </a:r>
            <a:r>
              <a:rPr lang="zh-CN" altLang="en-US" sz="1900" b="1" i="0">
                <a:solidFill>
                  <a:srgbClr val="1F3864"/>
                </a:solidFill>
                <a:latin typeface="微软雅黑" panose="020B0503020204020204" charset="-122"/>
              </a:rPr>
              <a:t>载荷的唯一依据</a:t>
            </a:r>
            <a:endParaRPr lang="zh-CN" altLang="en-US" sz="1900" b="1" i="0">
              <a:solidFill>
                <a:srgbClr val="1F3864"/>
              </a:solidFill>
              <a:latin typeface="微软雅黑" panose="020B0503020204020204" charset="-122"/>
            </a:endParaRPr>
          </a:p>
          <a:p>
            <a:pPr algn="l"/>
            <a:endParaRPr lang="zh-CN" altLang="en-US" sz="19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841248" y="4096511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18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1078865" y="4075430"/>
            <a:ext cx="9300210" cy="67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F3864"/>
                </a:solidFill>
                <a:latin typeface="微软雅黑" panose="020B0503020204020204" charset="-122"/>
              </a:rPr>
              <a:t>无外码时前缀裸露</a:t>
            </a:r>
            <a:r>
              <a:rPr lang="en-US" sz="1900" b="1" i="0">
                <a:solidFill>
                  <a:srgbClr val="1F3864"/>
                </a:solidFill>
                <a:latin typeface="微软雅黑" panose="020B0503020204020204" charset="-122"/>
              </a:rPr>
              <a:t>,</a:t>
            </a:r>
            <a:r>
              <a:rPr lang="zh-CN" altLang="en-US" sz="1900" b="1" i="0">
                <a:solidFill>
                  <a:srgbClr val="1F3864"/>
                </a:solidFill>
                <a:latin typeface="微软雅黑" panose="020B0503020204020204" charset="-122"/>
              </a:rPr>
              <a:t>一处比特错误足以让整条字节流错位，而</a:t>
            </a:r>
            <a:r>
              <a:rPr lang="zh-CN" altLang="en-US" sz="1900" b="1" i="0">
                <a:solidFill>
                  <a:srgbClr val="1F3864"/>
                </a:solidFill>
                <a:latin typeface="微软雅黑" panose="020B0503020204020204" charset="-122"/>
              </a:rPr>
              <a:t>非只坏一个包</a:t>
            </a:r>
            <a:endParaRPr lang="zh-CN" altLang="en-US" sz="1900" b="1" i="0">
              <a:solidFill>
                <a:srgbClr val="1F3864"/>
              </a:solidFill>
              <a:latin typeface="微软雅黑" panose="020B0503020204020204" charset="-122"/>
            </a:endParaRPr>
          </a:p>
          <a:p>
            <a:pPr algn="l"/>
            <a:endParaRPr lang="zh-CN" altLang="en-US" sz="19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841248" y="4700016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18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1078865" y="4672330"/>
            <a:ext cx="6892925" cy="383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F3864"/>
                </a:solidFill>
                <a:latin typeface="微软雅黑" panose="020B0503020204020204" charset="-122"/>
              </a:rPr>
              <a:t>外码</a:t>
            </a:r>
            <a:r>
              <a:rPr lang="zh-CN" sz="1900" b="1" i="0">
                <a:solidFill>
                  <a:srgbClr val="1F3864"/>
                </a:solidFill>
                <a:latin typeface="微软雅黑" panose="020B0503020204020204" charset="-122"/>
              </a:rPr>
              <a:t>在稳态环境下的实际功能为</a:t>
            </a:r>
            <a:r>
              <a:rPr sz="1900" b="1" i="0">
                <a:solidFill>
                  <a:srgbClr val="1F3864"/>
                </a:solidFill>
                <a:latin typeface="微软雅黑" panose="020B0503020204020204" charset="-122"/>
              </a:rPr>
              <a:t>分帧</a:t>
            </a:r>
            <a:r>
              <a:rPr lang="zh-CN" sz="1900" b="1" i="0">
                <a:solidFill>
                  <a:srgbClr val="1F3864"/>
                </a:solidFill>
                <a:latin typeface="微软雅黑" panose="020B0503020204020204" charset="-122"/>
              </a:rPr>
              <a:t>，而非</a:t>
            </a:r>
            <a:r>
              <a:rPr lang="zh-CN" sz="1900" b="1" i="0">
                <a:solidFill>
                  <a:srgbClr val="1F3864"/>
                </a:solidFill>
                <a:latin typeface="微软雅黑" panose="020B0503020204020204" charset="-122"/>
              </a:rPr>
              <a:t>纠错</a:t>
            </a:r>
            <a:endParaRPr lang="zh-CN" sz="19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1005840"/>
            <a:ext cx="1136873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同一误码流，容器与解码器让失效差两个数量级</a:t>
            </a:r>
            <a:endParaRPr sz="2600" b="0" i="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11480" y="1664208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68680" y="178308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0" i="0">
                <a:solidFill>
                  <a:srgbClr val="1A1A1A"/>
                </a:solidFill>
                <a:latin typeface="微软雅黑" panose="020B0503020204020204" charset="-122"/>
              </a:rPr>
              <a:t>MPEG-TS + VLC</a:t>
            </a:r>
            <a:endParaRPr sz="17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3703320" y="1828800"/>
            <a:ext cx="4892040" cy="329184"/>
          </a:xfrm>
          <a:prstGeom prst="round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705087" y="1801368"/>
            <a:ext cx="1097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B03A2E"/>
                </a:solidFill>
                <a:latin typeface="微软雅黑" panose="020B0503020204020204" charset="-122"/>
              </a:rPr>
              <a:t>≈ 500×</a:t>
            </a:r>
            <a:endParaRPr sz="1900" b="1" i="0">
              <a:solidFill>
                <a:srgbClr val="B03A2E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68680" y="2496312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0" i="0">
                <a:solidFill>
                  <a:srgbClr val="1A1A1A"/>
                </a:solidFill>
                <a:latin typeface="微软雅黑" panose="020B0503020204020204" charset="-122"/>
              </a:rPr>
              <a:t>MPEG-TS + ffplay</a:t>
            </a:r>
            <a:endParaRPr sz="17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3703320" y="2542032"/>
            <a:ext cx="3944291" cy="329184"/>
          </a:xfrm>
          <a:prstGeom prst="round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757339" y="2514600"/>
            <a:ext cx="1097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B03A2E"/>
                </a:solidFill>
                <a:latin typeface="微软雅黑" panose="020B0503020204020204" charset="-122"/>
              </a:rPr>
              <a:t>≈ 150×</a:t>
            </a:r>
            <a:endParaRPr sz="1900" b="1" i="0">
              <a:solidFill>
                <a:srgbClr val="B03A2E"/>
              </a:solidFill>
              <a:latin typeface="微软雅黑" panose="020B0503020204020204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68680" y="3209544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0" i="0">
                <a:solidFill>
                  <a:srgbClr val="1A1A1A"/>
                </a:solidFill>
                <a:latin typeface="微软雅黑" panose="020B0503020204020204" charset="-122"/>
              </a:rPr>
              <a:t>裸流 + ffplay</a:t>
            </a:r>
            <a:endParaRPr sz="17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3703320" y="3255264"/>
            <a:ext cx="1636903" cy="329184"/>
          </a:xfrm>
          <a:prstGeom prst="round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449951" y="3227832"/>
            <a:ext cx="1097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F5597"/>
                </a:solidFill>
                <a:latin typeface="微软雅黑" panose="020B0503020204020204" charset="-122"/>
              </a:rPr>
              <a:t>≈ 8×</a:t>
            </a:r>
            <a:endParaRPr sz="1900" b="1" i="0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868680" y="3922776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0" i="0">
                <a:solidFill>
                  <a:srgbClr val="1A1A1A"/>
                </a:solidFill>
                <a:latin typeface="微软雅黑" panose="020B0503020204020204" charset="-122"/>
              </a:rPr>
              <a:t>裸流 + GStreamer</a:t>
            </a:r>
            <a:endParaRPr sz="17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3703320" y="3968496"/>
            <a:ext cx="1091268" cy="329184"/>
          </a:xfrm>
          <a:prstGeom prst="round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904316" y="3941063"/>
            <a:ext cx="1097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F5597"/>
                </a:solidFill>
                <a:latin typeface="微软雅黑" panose="020B0503020204020204" charset="-122"/>
              </a:rPr>
              <a:t>≈ 4×</a:t>
            </a:r>
            <a:endParaRPr sz="1900" b="1" i="0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3703320" y="4352544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微软雅黑" panose="020B0503020204020204" charset="-122"/>
              </a:rPr>
              <a:t>容器放大因子 γ（对数刻度）</a:t>
            </a:r>
            <a:endParaRPr sz="1400" b="0" i="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868680" y="455371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微软雅黑" panose="020B0503020204020204" charset="-122"/>
              </a:rPr>
              <a:t>TS 的同步字节与连续性计数器一旦失锁，解码器整段丢弃；裸流按 NAL 起始码逐帧重新同步。</a:t>
            </a:r>
            <a:endParaRPr sz="17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987552"/>
            <a:ext cx="1136873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队列整形：把无界的时延累积变成有界丢帧</a:t>
            </a:r>
            <a:endParaRPr sz="2600" b="0" i="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11480" y="1645920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Rounded Rectangle 104"/>
          <p:cNvSpPr/>
          <p:nvPr/>
        </p:nvSpPr>
        <p:spPr>
          <a:xfrm>
            <a:off x="868680" y="1965960"/>
            <a:ext cx="3200400" cy="1371600"/>
          </a:xfrm>
          <a:prstGeom prst="roundRect">
            <a:avLst/>
          </a:prstGeom>
          <a:solidFill>
            <a:srgbClr val="EEF1F6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800" b="1">
                <a:solidFill>
                  <a:srgbClr val="1F3864"/>
                </a:solidFill>
                <a:latin typeface="微软雅黑" panose="020B0503020204020204" charset="-122"/>
              </a:rPr>
              <a:t>≈ 250 ms</a:t>
            </a:r>
            <a:endParaRPr sz="3800" b="1">
              <a:solidFill>
                <a:srgbClr val="1F3864"/>
              </a:solidFill>
              <a:latin typeface="微软雅黑" panose="020B0503020204020204" charset="-122"/>
            </a:endParaRPr>
          </a:p>
          <a:p>
            <a:pPr algn="ctr"/>
            <a:r>
              <a:rPr sz="1500">
                <a:solidFill>
                  <a:srgbClr val="595959"/>
                </a:solidFill>
                <a:latin typeface="微软雅黑" panose="020B0503020204020204" charset="-122"/>
              </a:rPr>
              <a:t>端到端时延，无累积趋势</a:t>
            </a:r>
            <a:endParaRPr sz="15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4453128" y="1965960"/>
            <a:ext cx="3200400" cy="1371600"/>
          </a:xfrm>
          <a:prstGeom prst="roundRect">
            <a:avLst/>
          </a:prstGeom>
          <a:solidFill>
            <a:srgbClr val="EEF1F6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800" b="1">
                <a:solidFill>
                  <a:srgbClr val="1F3864"/>
                </a:solidFill>
                <a:latin typeface="微软雅黑" panose="020B0503020204020204" charset="-122"/>
              </a:rPr>
              <a:t>≈ 80%</a:t>
            </a:r>
            <a:endParaRPr sz="3800" b="1">
              <a:solidFill>
                <a:srgbClr val="1F3864"/>
              </a:solidFill>
              <a:latin typeface="微软雅黑" panose="020B0503020204020204" charset="-122"/>
            </a:endParaRPr>
          </a:p>
          <a:p>
            <a:pPr algn="ctr"/>
            <a:r>
              <a:rPr sz="1500">
                <a:solidFill>
                  <a:srgbClr val="595959"/>
                </a:solidFill>
                <a:latin typeface="微软雅黑" panose="020B0503020204020204" charset="-122"/>
              </a:rPr>
              <a:t>来自 H.264 解码环节</a:t>
            </a:r>
            <a:endParaRPr sz="15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8037575" y="1965960"/>
            <a:ext cx="3200400" cy="1371600"/>
          </a:xfrm>
          <a:prstGeom prst="roundRect">
            <a:avLst/>
          </a:prstGeom>
          <a:solidFill>
            <a:srgbClr val="EEF1F6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800" b="1">
                <a:solidFill>
                  <a:srgbClr val="1F3864"/>
                </a:solidFill>
                <a:latin typeface="微软雅黑" panose="020B0503020204020204" charset="-122"/>
              </a:rPr>
              <a:t>32 → 4–8</a:t>
            </a:r>
            <a:endParaRPr sz="3800" b="1">
              <a:solidFill>
                <a:srgbClr val="1F3864"/>
              </a:solidFill>
              <a:latin typeface="微软雅黑" panose="020B0503020204020204" charset="-122"/>
            </a:endParaRPr>
          </a:p>
          <a:p>
            <a:pPr algn="ctr"/>
            <a:r>
              <a:rPr sz="1500">
                <a:solidFill>
                  <a:srgbClr val="595959"/>
                </a:solidFill>
                <a:latin typeface="微软雅黑" panose="020B0503020204020204" charset="-122"/>
              </a:rPr>
              <a:t>队列深度（帧）</a:t>
            </a:r>
            <a:endParaRPr sz="15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68680" y="37033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微软雅黑" panose="020B0503020204020204" charset="-122"/>
              </a:rPr>
              <a:t>问题：解码器一卡，UDP 缓冲堆积 → 发射端反压 → 队列更深，形成正反馈。</a:t>
            </a:r>
            <a:endParaRPr sz="18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868680" y="4133087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微软雅黑" panose="020B0503020204020204" charset="-122"/>
              </a:rPr>
              <a:t>对策：队列压到维持连续处理的最小值，阻塞写改为满则丢弃（try_push）。</a:t>
            </a:r>
            <a:endParaRPr sz="18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914400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现有研究工作</a:t>
            </a:r>
            <a:r>
              <a:rPr lang="zh-CN" sz="28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总结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11480" y="1572768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11480" y="1591056"/>
            <a:ext cx="11368735" cy="36576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1618488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161848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A6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050" b="1" i="0">
              <a:solidFill>
                <a:srgbClr val="0A2A6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3544" y="1591056"/>
            <a:ext cx="10765231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平台与链路  /  Platform and Link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11480" y="1975104"/>
            <a:ext cx="11368735" cy="65836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2066543"/>
            <a:ext cx="365760" cy="36576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5" name="Picture 24" descr="settings_2E5F9E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" y="2139696"/>
            <a:ext cx="219456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05840" y="204825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OpenISAC 平台部署完成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24128" y="226771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基于 OpenISAC 框架完成系统部署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4128" y="2432304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实现发送端、无线链路与接收端全链路运行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4169663" y="2048256"/>
            <a:ext cx="0" cy="530352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315968" y="2066543"/>
            <a:ext cx="365760" cy="36576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1" name="Picture 30" descr="cell_tower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139696"/>
            <a:ext cx="219456" cy="21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791456" y="204825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N320 + B210 空口链路搭建完成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809744" y="226771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采用 USRP N320（发射端）与 B210（接收端）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09744" y="2432304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完成 OFDM 通感一体化空口链路搭建与调试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7955279" y="2048256"/>
            <a:ext cx="0" cy="530352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101583" y="2066543"/>
            <a:ext cx="365760" cy="36576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7" name="Picture 36" descr="movi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2139696"/>
            <a:ext cx="219456" cy="21945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77072" y="204825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实时视频与感知并行运行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95359" y="226771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实现 1080p、30 fps 实时视频传输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595359" y="2432304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同步运行感知处理与结果显示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11480" y="2743200"/>
            <a:ext cx="11368735" cy="36576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1208" y="277063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" y="2770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A6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050" b="1" i="0">
              <a:solidFill>
                <a:srgbClr val="0A2A6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3544" y="2743200"/>
            <a:ext cx="10765231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初步研究结果  /  Preliminary Results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11480" y="3145536"/>
            <a:ext cx="42245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1）</a:t>
            </a:r>
            <a:r>
              <a:rPr lang="zh-CN"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相同</a:t>
            </a:r>
            <a:r>
              <a:rPr lang="en-US" altLang="zh-CN"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</a:t>
            </a: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γ 值下</a:t>
            </a:r>
            <a:r>
              <a:rPr lang="zh-CN"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不同组合</a:t>
            </a: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的实测结果</a:t>
            </a:r>
            <a:endParaRPr sz="7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773168" y="3145536"/>
            <a:ext cx="31272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2）端到端时延测试结果</a:t>
            </a:r>
            <a:endParaRPr sz="7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046720" y="3145536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3） CP 对比实验</a:t>
            </a:r>
            <a:endParaRPr sz="7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5815584" y="5705856"/>
            <a:ext cx="0" cy="658368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5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pic>
        <p:nvPicPr>
          <p:cNvPr id="67" name="Picture 2"/>
          <p:cNvPicPr>
            <a:picLocks noChangeAspect="1"/>
          </p:cNvPicPr>
          <p:nvPr/>
        </p:nvPicPr>
        <p:blipFill>
          <a:blip r:embed="rId6"/>
          <a:srcRect l="15802" b="14861"/>
          <a:stretch>
            <a:fillRect/>
          </a:stretch>
        </p:blipFill>
        <p:spPr>
          <a:xfrm>
            <a:off x="521335" y="3364865"/>
            <a:ext cx="3717925" cy="1944370"/>
          </a:xfrm>
          <a:prstGeom prst="rect">
            <a:avLst/>
          </a:prstGeom>
        </p:spPr>
      </p:pic>
      <p:pic>
        <p:nvPicPr>
          <p:cNvPr id="68" name="Picture 4"/>
          <p:cNvPicPr>
            <a:picLocks noChangeAspect="1"/>
          </p:cNvPicPr>
          <p:nvPr/>
        </p:nvPicPr>
        <p:blipFill>
          <a:blip r:embed="rId7"/>
          <a:srcRect r="49401"/>
          <a:stretch>
            <a:fillRect/>
          </a:stretch>
        </p:blipFill>
        <p:spPr>
          <a:xfrm>
            <a:off x="4590415" y="3279775"/>
            <a:ext cx="2706370" cy="2004060"/>
          </a:xfrm>
          <a:prstGeom prst="rect">
            <a:avLst/>
          </a:prstGeom>
        </p:spPr>
      </p:pic>
      <p:sp>
        <p:nvSpPr>
          <p:cNvPr id="2" name="bg"/>
          <p:cNvSpPr/>
          <p:nvPr/>
        </p:nvSpPr>
        <p:spPr>
          <a:xfrm>
            <a:off x="6995160" y="3277235"/>
            <a:ext cx="624205" cy="530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graphicFrame>
        <p:nvGraphicFramePr>
          <p:cNvPr id="70" name="Table 4"/>
          <p:cNvGraphicFramePr>
            <a:graphicFrameLocks noGrp="1"/>
          </p:cNvGraphicFramePr>
          <p:nvPr/>
        </p:nvGraphicFramePr>
        <p:xfrm>
          <a:off x="7682230" y="3352165"/>
          <a:ext cx="4107815" cy="191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1298575"/>
                <a:gridCol w="1965325"/>
              </a:tblGrid>
              <a:tr h="2984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指标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213E60"/>
                      </a:solidFill>
                    </a:lnL>
                    <a:lnR w="10795">
                      <a:solidFill>
                        <a:srgbClr val="213E60"/>
                      </a:solidFill>
                    </a:lnR>
                    <a:lnT w="10795">
                      <a:solidFill>
                        <a:srgbClr val="213E60"/>
                      </a:solidFill>
                    </a:lnT>
                    <a:lnB w="10795">
                      <a:solidFill>
                        <a:srgbClr val="213E60"/>
                      </a:solidFill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CP = 128（基线）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213E60"/>
                      </a:solidFill>
                    </a:lnL>
                    <a:lnR w="10795">
                      <a:solidFill>
                        <a:srgbClr val="213E60"/>
                      </a:solidFill>
                    </a:lnR>
                    <a:lnT w="10795">
                      <a:solidFill>
                        <a:srgbClr val="213E60"/>
                      </a:solidFill>
                    </a:lnT>
                    <a:lnB w="10795">
                      <a:solidFill>
                        <a:srgbClr val="213E60"/>
                      </a:solidFill>
                    </a:lnB>
                    <a:solidFill>
                      <a:srgbClr val="213E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CP = 64（实验）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213E60"/>
                      </a:solidFill>
                    </a:lnL>
                    <a:lnR w="10795">
                      <a:solidFill>
                        <a:srgbClr val="213E60"/>
                      </a:solidFill>
                    </a:lnR>
                    <a:lnT w="10795">
                      <a:solidFill>
                        <a:srgbClr val="213E60"/>
                      </a:solidFill>
                    </a:lnT>
                    <a:lnB w="10795">
                      <a:solidFill>
                        <a:srgbClr val="213E60"/>
                      </a:solidFill>
                    </a:lnB>
                    <a:solidFill>
                      <a:srgbClr val="213E60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CP 开销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12.5%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6.7%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吞吐增益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5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—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835E"/>
                          </a:solidFill>
                          <a:latin typeface="微软雅黑" panose="020B0503020204020204" charset="-122"/>
                        </a:rPr>
                        <a:t>+5.9%</a:t>
                      </a:r>
                      <a:endParaRPr sz="1000" b="1">
                        <a:solidFill>
                          <a:srgbClr val="14835E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4508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同步状态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835E"/>
                          </a:solidFill>
                          <a:latin typeface="微软雅黑" panose="020B0503020204020204" charset="-122"/>
                        </a:rPr>
                        <a:t>✓  持续稳定</a:t>
                      </a:r>
                      <a:endParaRPr sz="1000" b="1">
                        <a:solidFill>
                          <a:srgbClr val="14835E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93443"/>
                          </a:solidFill>
                          <a:latin typeface="微软雅黑" panose="020B0503020204020204" charset="-122"/>
                        </a:rPr>
                        <a:t>✕  “No valid delay found” 循环</a:t>
                      </a:r>
                      <a:endParaRPr sz="1000" b="1">
                        <a:solidFill>
                          <a:srgbClr val="B93443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1F2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CFO 估计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5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7.4 kHz（约 2.3 ppm）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93443"/>
                          </a:solidFill>
                          <a:latin typeface="微软雅黑" panose="020B0503020204020204" charset="-122"/>
                        </a:rPr>
                        <a:t>7.4 → 95 kHz</a:t>
                      </a:r>
                      <a:r>
                        <a:rPr sz="1000" b="0">
                          <a:solidFill>
                            <a:srgbClr val="B93443"/>
                          </a:solidFill>
                          <a:latin typeface="微软雅黑" panose="020B0503020204020204" charset="-122"/>
                        </a:rPr>
                        <a:t>
（30.6 ppm，物理不可实现）</a:t>
                      </a:r>
                      <a:endParaRPr sz="1000" b="0">
                        <a:solidFill>
                          <a:srgbClr val="B93443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71" name="bg"/>
          <p:cNvSpPr/>
          <p:nvPr/>
        </p:nvSpPr>
        <p:spPr>
          <a:xfrm>
            <a:off x="4408805" y="3277235"/>
            <a:ext cx="273050" cy="3289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914400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7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研究计划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11480" y="2304288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1148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2025.09 – 2026.06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012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课程学习与平台熟悉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2120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school_3A6C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3145536"/>
            <a:ext cx="182880" cy="182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完成培养计划规定的课程学习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6" name="Picture 25" descr="menu_book_3A6C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383280"/>
            <a:ext cx="182880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学习 ISAC 与 H.264/OFDM 基础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8" name="Picture 27" descr="settings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621024"/>
            <a:ext cx="182880" cy="1828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724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搭建实验环境，熟悉实验平台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3108960" y="3209544"/>
            <a:ext cx="128016" cy="0"/>
          </a:xfrm>
          <a:prstGeom prst="line">
            <a:avLst/>
          </a:prstGeom>
          <a:ln w="1778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24612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5584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9476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2026.07 – 2026.09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9476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1 完成与论文初稿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335584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terminal_3A6CA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36" y="3145536"/>
            <a:ext cx="182880" cy="1828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61188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</a:t>
            </a:r>
            <a:r>
              <a:rPr lang="zh-CN"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平台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部署与 RS 模块开发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8" name="Picture 37" descr="bar_chart_3A6CA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4136" y="3383280"/>
            <a:ext cx="182880" cy="1828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61188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完成研究内容 1 的相关实验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0" name="Picture 39" descr="description_3A6CA8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3621024"/>
            <a:ext cx="182880" cy="1828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61188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撰写论文初稿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5943600" y="3209544"/>
            <a:ext cx="128016" cy="0"/>
          </a:xfrm>
          <a:prstGeom prst="line">
            <a:avLst/>
          </a:prstGeom>
          <a:ln w="1778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08076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19048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2940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2026.09 – 2026.12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62940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2 启动与中期检查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619048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Picture 47" descr="settings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3145536"/>
            <a:ext cx="182880" cy="18288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44652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 RS 替换实现与单元测试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0" name="Picture 49" descr="ssid_chart_3A6CA8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8776" y="3383280"/>
            <a:ext cx="182880" cy="18288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44652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开展激活点测量实验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2" name="Picture 51" descr="hub_3A6CA8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8776" y="3621024"/>
            <a:ext cx="182880" cy="1828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44652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建立自适应映射模型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4" name="Picture 53" descr="fact_check_3A6C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8776" y="3858768"/>
            <a:ext cx="182880" cy="18288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446520" y="3840480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中期检查与阶段性总结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8778240" y="3209544"/>
            <a:ext cx="128016" cy="0"/>
          </a:xfrm>
          <a:prstGeom prst="line">
            <a:avLst/>
          </a:prstGeom>
          <a:ln w="1778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891540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02512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46404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2027.01 – 2028.06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46404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2/3 完成与论文答辩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902512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Picture 61" descr="bar_chart_3A6CA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3416" y="3145536"/>
            <a:ext cx="182880" cy="1828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28116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完成自适应传输实验与性能评估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4" name="Picture 63" descr="cell_tower_3A6CA8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3416" y="3383280"/>
            <a:ext cx="182880" cy="18288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28116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共存对照与微动延伸实验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6" name="Picture 65" descr="description_3A6CA8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3416" y="3621024"/>
            <a:ext cx="182880" cy="18288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28116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撰写硕士学位论文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8" name="Picture 67" descr="school_3A6C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416" y="3858768"/>
            <a:ext cx="182880" cy="18288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281160" y="3840480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预答辩与正式答辩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530352" y="5477256"/>
            <a:ext cx="365760" cy="365760"/>
          </a:xfrm>
          <a:prstGeom prst="ellipse">
            <a:avLst/>
          </a:prstGeom>
          <a:solidFill>
            <a:srgbClr val="E3ED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08" name="Picture 107" descr="target_1F5FA8_3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6188" y="5543092"/>
            <a:ext cx="234086" cy="234086"/>
          </a:xfrm>
          <a:prstGeom prst="rect">
            <a:avLst/>
          </a:prstGeom>
        </p:spPr>
      </p:pic>
      <p:pic>
        <p:nvPicPr>
          <p:cNvPr id="109" name="Picture 11" descr="logo.png"/>
          <p:cNvPicPr>
            <a:picLocks noChangeAspect="1"/>
          </p:cNvPicPr>
          <p:nvPr/>
        </p:nvPicPr>
        <p:blipFill>
          <a:blip r:embed="rId13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cxnSp>
        <p:nvCxnSpPr>
          <p:cNvPr id="80" name="Connector 79"/>
          <p:cNvCxnSpPr/>
          <p:nvPr/>
        </p:nvCxnSpPr>
        <p:spPr>
          <a:xfrm>
            <a:off x="3017520" y="5870448"/>
            <a:ext cx="1874520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269480" y="5870448"/>
            <a:ext cx="1874520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2004060" y="2532888"/>
            <a:ext cx="8183879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汇报完毕，敬请各位老师批评指正</a:t>
            </a:r>
            <a:endParaRPr sz="40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3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4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5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6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7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8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9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0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1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2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3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4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5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6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7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8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9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0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1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2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3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4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5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6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7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8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9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30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31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4024</Words>
  <Application>WPS 演示</Application>
  <PresentationFormat>On-screen Show (4:3)</PresentationFormat>
  <Paragraphs>620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Arial</vt:lpstr>
      <vt:lpstr>Segoe UI</vt:lpstr>
      <vt:lpstr>微软雅黑</vt:lpstr>
      <vt:lpstr>Source Han Serif SC Heavy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还是你最可爱</cp:lastModifiedBy>
  <cp:revision>6</cp:revision>
  <dcterms:created xsi:type="dcterms:W3CDTF">2013-01-27T09:14:00Z</dcterms:created>
  <dcterms:modified xsi:type="dcterms:W3CDTF">2026-10-21T08:31:41Z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17948D07919640C68EB81743EAA37F24_13</vt:lpwstr>
  </property>
</Properties>
</file>